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84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6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82.xml"/>
  <Override ContentType="application/vnd.openxmlformats-officedocument.presentationml.notesSlide+xml" PartName="/ppt/notesSlides/notesSlide8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77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8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8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80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75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78.xml"/>
  <Override ContentType="application/vnd.openxmlformats-officedocument.presentationml.notesSlide+xml" PartName="/ppt/notesSlides/notesSlide79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83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78.xml"/>
  <Override ContentType="application/vnd.openxmlformats-officedocument.presentationml.slide+xml" PartName="/ppt/slides/slide86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69.xml"/>
  <Override ContentType="application/vnd.openxmlformats-officedocument.presentationml.slide+xml" PartName="/ppt/slides/slide8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77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84.xml"/>
  <Override ContentType="application/vnd.openxmlformats-officedocument.presentationml.slide+xml" PartName="/ppt/slides/slide37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79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83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7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8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72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1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75.xml"/>
  <Override ContentType="application/vnd.openxmlformats-officedocument.presentationml.slide+xml" PartName="/ppt/slides/slide76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80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74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  <p:sldId id="310" r:id="rId59"/>
    <p:sldId id="311" r:id="rId60"/>
    <p:sldId id="312" r:id="rId61"/>
    <p:sldId id="313" r:id="rId62"/>
    <p:sldId id="314" r:id="rId63"/>
    <p:sldId id="315" r:id="rId64"/>
    <p:sldId id="316" r:id="rId65"/>
    <p:sldId id="317" r:id="rId66"/>
    <p:sldId id="318" r:id="rId67"/>
    <p:sldId id="319" r:id="rId68"/>
    <p:sldId id="320" r:id="rId69"/>
    <p:sldId id="321" r:id="rId70"/>
    <p:sldId id="322" r:id="rId71"/>
    <p:sldId id="323" r:id="rId72"/>
    <p:sldId id="324" r:id="rId73"/>
    <p:sldId id="325" r:id="rId74"/>
    <p:sldId id="326" r:id="rId75"/>
    <p:sldId id="327" r:id="rId76"/>
    <p:sldId id="328" r:id="rId77"/>
    <p:sldId id="329" r:id="rId78"/>
    <p:sldId id="330" r:id="rId79"/>
    <p:sldId id="331" r:id="rId80"/>
    <p:sldId id="332" r:id="rId81"/>
    <p:sldId id="333" r:id="rId82"/>
    <p:sldId id="334" r:id="rId83"/>
    <p:sldId id="335" r:id="rId84"/>
    <p:sldId id="336" r:id="rId85"/>
    <p:sldId id="337" r:id="rId86"/>
    <p:sldId id="338" r:id="rId87"/>
    <p:sldId id="339" r:id="rId88"/>
    <p:sldId id="340" r:id="rId89"/>
    <p:sldId id="341" r:id="rId90"/>
  </p:sldIdLst>
  <p:sldSz cy="6858000" cx="12192000"/>
  <p:notesSz cx="6858000" cy="9144000"/>
  <p:embeddedFontLst>
    <p:embeddedFont>
      <p:font typeface="Montserrat"/>
      <p:regular r:id="rId91"/>
      <p:bold r:id="rId92"/>
      <p:italic r:id="rId93"/>
      <p:boldItalic r:id="rId94"/>
    </p:embeddedFont>
    <p:embeddedFont>
      <p:font typeface="Geologica Medium"/>
      <p:regular r:id="rId95"/>
      <p:bold r:id="rId96"/>
    </p:embeddedFont>
    <p:embeddedFont>
      <p:font typeface="Geologica"/>
      <p:regular r:id="rId97"/>
      <p:bold r:id="rId98"/>
    </p:embeddedFont>
    <p:embeddedFont>
      <p:font typeface="Geologica Light"/>
      <p:regular r:id="rId99"/>
      <p:bold r:id="rId100"/>
    </p:embeddedFont>
    <p:embeddedFont>
      <p:font typeface="Roboto Mono"/>
      <p:regular r:id="rId101"/>
      <p:bold r:id="rId102"/>
      <p:italic r:id="rId103"/>
      <p:boldItalic r:id="rId10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05" roundtripDataSignature="AMtx7mhnVill8skuwPiP0uYrcp0KO5g2c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6.xml"/><Relationship Id="rId42" Type="http://schemas.openxmlformats.org/officeDocument/2006/relationships/slide" Target="slides/slide38.xml"/><Relationship Id="rId41" Type="http://schemas.openxmlformats.org/officeDocument/2006/relationships/slide" Target="slides/slide37.xml"/><Relationship Id="rId44" Type="http://schemas.openxmlformats.org/officeDocument/2006/relationships/slide" Target="slides/slide40.xml"/><Relationship Id="rId43" Type="http://schemas.openxmlformats.org/officeDocument/2006/relationships/slide" Target="slides/slide39.xml"/><Relationship Id="rId46" Type="http://schemas.openxmlformats.org/officeDocument/2006/relationships/slide" Target="slides/slide42.xml"/><Relationship Id="rId45" Type="http://schemas.openxmlformats.org/officeDocument/2006/relationships/slide" Target="slides/slide41.xml"/><Relationship Id="rId105" Type="http://customschemas.google.com/relationships/presentationmetadata" Target="metadata"/><Relationship Id="rId104" Type="http://schemas.openxmlformats.org/officeDocument/2006/relationships/font" Target="fonts/RobotoMono-boldItalic.fntdata"/><Relationship Id="rId48" Type="http://schemas.openxmlformats.org/officeDocument/2006/relationships/slide" Target="slides/slide44.xml"/><Relationship Id="rId47" Type="http://schemas.openxmlformats.org/officeDocument/2006/relationships/slide" Target="slides/slide43.xml"/><Relationship Id="rId49" Type="http://schemas.openxmlformats.org/officeDocument/2006/relationships/slide" Target="slides/slide45.xml"/><Relationship Id="rId103" Type="http://schemas.openxmlformats.org/officeDocument/2006/relationships/font" Target="fonts/RobotoMono-italic.fntdata"/><Relationship Id="rId102" Type="http://schemas.openxmlformats.org/officeDocument/2006/relationships/font" Target="fonts/RobotoMono-bold.fntdata"/><Relationship Id="rId101" Type="http://schemas.openxmlformats.org/officeDocument/2006/relationships/font" Target="fonts/RobotoMono-regular.fntdata"/><Relationship Id="rId100" Type="http://schemas.openxmlformats.org/officeDocument/2006/relationships/font" Target="fonts/GeologicaLight-bold.fntdata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5" Type="http://schemas.openxmlformats.org/officeDocument/2006/relationships/slide" Target="slides/slide31.xml"/><Relationship Id="rId34" Type="http://schemas.openxmlformats.org/officeDocument/2006/relationships/slide" Target="slides/slide30.xml"/><Relationship Id="rId37" Type="http://schemas.openxmlformats.org/officeDocument/2006/relationships/slide" Target="slides/slide33.xml"/><Relationship Id="rId36" Type="http://schemas.openxmlformats.org/officeDocument/2006/relationships/slide" Target="slides/slide32.xml"/><Relationship Id="rId39" Type="http://schemas.openxmlformats.org/officeDocument/2006/relationships/slide" Target="slides/slide35.xml"/><Relationship Id="rId38" Type="http://schemas.openxmlformats.org/officeDocument/2006/relationships/slide" Target="slides/slide34.xml"/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9" Type="http://schemas.openxmlformats.org/officeDocument/2006/relationships/slide" Target="slides/slide25.xml"/><Relationship Id="rId95" Type="http://schemas.openxmlformats.org/officeDocument/2006/relationships/font" Target="fonts/GeologicaMedium-regular.fntdata"/><Relationship Id="rId94" Type="http://schemas.openxmlformats.org/officeDocument/2006/relationships/font" Target="fonts/Montserrat-boldItalic.fntdata"/><Relationship Id="rId97" Type="http://schemas.openxmlformats.org/officeDocument/2006/relationships/font" Target="fonts/Geologica-regular.fntdata"/><Relationship Id="rId96" Type="http://schemas.openxmlformats.org/officeDocument/2006/relationships/font" Target="fonts/GeologicaMedium-bold.fntdata"/><Relationship Id="rId11" Type="http://schemas.openxmlformats.org/officeDocument/2006/relationships/slide" Target="slides/slide7.xml"/><Relationship Id="rId99" Type="http://schemas.openxmlformats.org/officeDocument/2006/relationships/font" Target="fonts/GeologicaLight-regular.fntdata"/><Relationship Id="rId10" Type="http://schemas.openxmlformats.org/officeDocument/2006/relationships/slide" Target="slides/slide6.xml"/><Relationship Id="rId98" Type="http://schemas.openxmlformats.org/officeDocument/2006/relationships/font" Target="fonts/Geologica-bold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91" Type="http://schemas.openxmlformats.org/officeDocument/2006/relationships/font" Target="fonts/Montserrat-regular.fntdata"/><Relationship Id="rId90" Type="http://schemas.openxmlformats.org/officeDocument/2006/relationships/slide" Target="slides/slide86.xml"/><Relationship Id="rId93" Type="http://schemas.openxmlformats.org/officeDocument/2006/relationships/font" Target="fonts/Montserrat-italic.fntdata"/><Relationship Id="rId92" Type="http://schemas.openxmlformats.org/officeDocument/2006/relationships/font" Target="fonts/Montserrat-bold.fntdata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84" Type="http://schemas.openxmlformats.org/officeDocument/2006/relationships/slide" Target="slides/slide80.xml"/><Relationship Id="rId83" Type="http://schemas.openxmlformats.org/officeDocument/2006/relationships/slide" Target="slides/slide79.xml"/><Relationship Id="rId86" Type="http://schemas.openxmlformats.org/officeDocument/2006/relationships/slide" Target="slides/slide82.xml"/><Relationship Id="rId85" Type="http://schemas.openxmlformats.org/officeDocument/2006/relationships/slide" Target="slides/slide81.xml"/><Relationship Id="rId88" Type="http://schemas.openxmlformats.org/officeDocument/2006/relationships/slide" Target="slides/slide84.xml"/><Relationship Id="rId87" Type="http://schemas.openxmlformats.org/officeDocument/2006/relationships/slide" Target="slides/slide83.xml"/><Relationship Id="rId89" Type="http://schemas.openxmlformats.org/officeDocument/2006/relationships/slide" Target="slides/slide85.xml"/><Relationship Id="rId80" Type="http://schemas.openxmlformats.org/officeDocument/2006/relationships/slide" Target="slides/slide76.xml"/><Relationship Id="rId82" Type="http://schemas.openxmlformats.org/officeDocument/2006/relationships/slide" Target="slides/slide78.xml"/><Relationship Id="rId81" Type="http://schemas.openxmlformats.org/officeDocument/2006/relationships/slide" Target="slides/slide7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73" Type="http://schemas.openxmlformats.org/officeDocument/2006/relationships/slide" Target="slides/slide69.xml"/><Relationship Id="rId72" Type="http://schemas.openxmlformats.org/officeDocument/2006/relationships/slide" Target="slides/slide68.xml"/><Relationship Id="rId75" Type="http://schemas.openxmlformats.org/officeDocument/2006/relationships/slide" Target="slides/slide71.xml"/><Relationship Id="rId74" Type="http://schemas.openxmlformats.org/officeDocument/2006/relationships/slide" Target="slides/slide70.xml"/><Relationship Id="rId77" Type="http://schemas.openxmlformats.org/officeDocument/2006/relationships/slide" Target="slides/slide73.xml"/><Relationship Id="rId76" Type="http://schemas.openxmlformats.org/officeDocument/2006/relationships/slide" Target="slides/slide72.xml"/><Relationship Id="rId79" Type="http://schemas.openxmlformats.org/officeDocument/2006/relationships/slide" Target="slides/slide75.xml"/><Relationship Id="rId78" Type="http://schemas.openxmlformats.org/officeDocument/2006/relationships/slide" Target="slides/slide74.xml"/><Relationship Id="rId71" Type="http://schemas.openxmlformats.org/officeDocument/2006/relationships/slide" Target="slides/slide67.xml"/><Relationship Id="rId70" Type="http://schemas.openxmlformats.org/officeDocument/2006/relationships/slide" Target="slides/slide66.xml"/><Relationship Id="rId62" Type="http://schemas.openxmlformats.org/officeDocument/2006/relationships/slide" Target="slides/slide58.xml"/><Relationship Id="rId61" Type="http://schemas.openxmlformats.org/officeDocument/2006/relationships/slide" Target="slides/slide57.xml"/><Relationship Id="rId64" Type="http://schemas.openxmlformats.org/officeDocument/2006/relationships/slide" Target="slides/slide60.xml"/><Relationship Id="rId63" Type="http://schemas.openxmlformats.org/officeDocument/2006/relationships/slide" Target="slides/slide59.xml"/><Relationship Id="rId66" Type="http://schemas.openxmlformats.org/officeDocument/2006/relationships/slide" Target="slides/slide62.xml"/><Relationship Id="rId65" Type="http://schemas.openxmlformats.org/officeDocument/2006/relationships/slide" Target="slides/slide61.xml"/><Relationship Id="rId68" Type="http://schemas.openxmlformats.org/officeDocument/2006/relationships/slide" Target="slides/slide64.xml"/><Relationship Id="rId67" Type="http://schemas.openxmlformats.org/officeDocument/2006/relationships/slide" Target="slides/slide63.xml"/><Relationship Id="rId60" Type="http://schemas.openxmlformats.org/officeDocument/2006/relationships/slide" Target="slides/slide56.xml"/><Relationship Id="rId69" Type="http://schemas.openxmlformats.org/officeDocument/2006/relationships/slide" Target="slides/slide65.xml"/><Relationship Id="rId51" Type="http://schemas.openxmlformats.org/officeDocument/2006/relationships/slide" Target="slides/slide47.xml"/><Relationship Id="rId50" Type="http://schemas.openxmlformats.org/officeDocument/2006/relationships/slide" Target="slides/slide46.xml"/><Relationship Id="rId53" Type="http://schemas.openxmlformats.org/officeDocument/2006/relationships/slide" Target="slides/slide49.xml"/><Relationship Id="rId52" Type="http://schemas.openxmlformats.org/officeDocument/2006/relationships/slide" Target="slides/slide48.xml"/><Relationship Id="rId55" Type="http://schemas.openxmlformats.org/officeDocument/2006/relationships/slide" Target="slides/slide51.xml"/><Relationship Id="rId54" Type="http://schemas.openxmlformats.org/officeDocument/2006/relationships/slide" Target="slides/slide50.xml"/><Relationship Id="rId57" Type="http://schemas.openxmlformats.org/officeDocument/2006/relationships/slide" Target="slides/slide53.xml"/><Relationship Id="rId56" Type="http://schemas.openxmlformats.org/officeDocument/2006/relationships/slide" Target="slides/slide52.xml"/><Relationship Id="rId59" Type="http://schemas.openxmlformats.org/officeDocument/2006/relationships/slide" Target="slides/slide55.xml"/><Relationship Id="rId58" Type="http://schemas.openxmlformats.org/officeDocument/2006/relationships/slide" Target="slides/slide5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8" name="Google Shape;28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89" name="Google Shape;289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Проблемы: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Перехватываются все исключения, даже неожиданные, без обработки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Возврат 0 может скрыть ошибку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Надо обрабатывать конкретные типы ошибок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Этот код - пример “молчаливого провала”. Мы не логируем </a:t>
            </a:r>
            <a:r>
              <a:rPr lang="ru-RU"/>
              <a:t>исключение</a:t>
            </a:r>
            <a:endParaRPr sz="1100"/>
          </a:p>
        </p:txBody>
      </p:sp>
      <p:sp>
        <p:nvSpPr>
          <p:cNvPr id="298" name="Google Shape;298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120ba7d59a_0_2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Логируй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Прокидывай их далее по цепочке вызовов</a:t>
            </a:r>
            <a:endParaRPr/>
          </a:p>
        </p:txBody>
      </p:sp>
      <p:sp>
        <p:nvSpPr>
          <p:cNvPr id="305" name="Google Shape;305;g3120ba7d59a_0_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3120ba7d59a_0_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Как первая стратегия работы с ними, дальше - уточним</a:t>
            </a:r>
            <a:endParaRPr/>
          </a:p>
        </p:txBody>
      </p:sp>
      <p:sp>
        <p:nvSpPr>
          <p:cNvPr id="311" name="Google Shape;311;g3120ba7d59a_0_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12cb20dbda_1_1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Варианты исправления: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-Завести локальные переменные и сначала записать все в них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-Откатываться в catch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-Заменить Add на идемпотентную операцию (на скобочки или AddOrUpdate)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-Одна структура данных для всего, а не раздельные кэши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В веб-приложениях про консистентность нужно думать только в кэшах и других долгоживущих объектах (в десктопах – в больших моделях данных)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То, что наконфигуровано как Singleton или Lifetime –объекты в DI контейнере (вы про них уже должны знать) – попадает под эти риски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1" name="Google Shape;321;g312cb20dbda_1_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120ba7d59a_0_6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Варианты исправления: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-Завести локальные переменные и сначала записать все в них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-Откатываться в catch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-Заменить Add на идемпотентную операцию (на скобочки или AddOrUpdate)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-Одна структура данных для всего, а не раздельные кэши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В веб-приложениях про консистентность нужно думать только в кэшах и других долгоживущих объектах (в десктопах – в больших моделях данных)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То, что наконфигуровано как Singleton или Lifetime –объекты в DI контейнере (вы про них уже должны знать) – попадает под эти риски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8" name="Google Shape;328;g3120ba7d59a_0_6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3120ba7d59a_0_6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Самое распространенное исключение – NRE, поэтому обратим на него особое внимание.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Maybe – в следующем блоке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Именование – если Get – он не должен вернуть нал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В последних версиях языка есть nullable нотация. Однако тоже ее пихать везде - не очень хорошо, если можно этого избежать</a:t>
            </a:r>
            <a:endParaRPr/>
          </a:p>
        </p:txBody>
      </p:sp>
      <p:sp>
        <p:nvSpPr>
          <p:cNvPr id="336" name="Google Shape;336;g3120ba7d59a_0_6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120ba7d59a_0_8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Никогда не возвращай null! Но если очень хочется – давайте явно отражать это в названии метода.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Давайте придумаем, как называть методы, чтобы понимать, ошибка это или нет.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Правильные параметры помогают  предусмотреть такие исключения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47" name="Google Shape;347;g3120ba7d59a_0_8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120ba7d59a_0_9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Исключения предназначены только для действительно исключительных ситуаций, а не для управления логикой программы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Не стоит использовать </a:t>
            </a:r>
            <a:r>
              <a:rPr lang="ru-RU">
                <a:latin typeface="Roboto Mono"/>
                <a:ea typeface="Roboto Mono"/>
                <a:cs typeface="Roboto Mono"/>
                <a:sym typeface="Roboto Mono"/>
              </a:rPr>
              <a:t>try/catch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 для обычных сценариев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Лучше предотвращать ошибку, чем ловить её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Частое использование исключений снижает производительность и ухудшает читаемость кода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g3120ba7d59a_0_9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3120ba7d59a_0_10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Интерактив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Бывает, бизнес-логика или реальный мир предполагает исключения, тогда быстро перехватываем и обрабатываем их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Пример кода с конкретизированными исключениями?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FileNotFoundException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JsonException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IOException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Особые виды исключений, которые разработчику захочется обрабатывать общим образом?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TimeoutException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HttpRequestException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OperationCanceledException</a:t>
            </a:r>
            <a:endParaRPr/>
          </a:p>
        </p:txBody>
      </p:sp>
      <p:sp>
        <p:nvSpPr>
          <p:cNvPr id="369" name="Google Shape;369;g3120ba7d59a_0_10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3120ba7d59a_0_13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Х300 – медленнее в 300 раз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То есть, если ситуация частая – это очень дорого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Потому что прерывание скомпилированного кода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Потому что нужно генерировать килобайтный стек-трейс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81" name="Google Shape;381;g3120ba7d59a_0_1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120ba7d59a_0_16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Представим, что в … куча кода, тогда какая тут проблема? 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Это будет нечестный FormatException, т.к. могло случиться все что угодно.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Вы написали специфичный обработчик, а реагируете на все подряд, поэтому надо точечно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Такая реализация маскирует реальные причины сбоев, затрудняя отладку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Оставить большой try-catch и показать процесс конкретизации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g3120ba7d59a_0_16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g3120ba7d59a_0_17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97" name="Google Shape;397;g3120ba7d59a_0_17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3120ba7d59a_0_17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Единственное исключение для правила «если не знаешь, что делать с исключением – кидай дальше» - глобальный обработчик.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Это для логов, для безопасности, для расследования, решить проблему пользователя (показать телефон техподдержки)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Для MVC – BaseController c OnError action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Для ASP.NET - AppDomain.CurrentDomain.UnhandledException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Event Logs!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03" name="Google Shape;403;g3120ba7d59a_0_17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3120ba7d59a_0_18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Каждый поток или таск – свой обработчик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10" name="Google Shape;410;g3120ba7d59a_0_18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3120ba7d59a_0_19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Самый простой способ – сделать соответствующий примитив, чтобы не повторяться</a:t>
            </a:r>
            <a:endParaRPr/>
          </a:p>
        </p:txBody>
      </p:sp>
      <p:sp>
        <p:nvSpPr>
          <p:cNvPr id="417" name="Google Shape;417;g3120ba7d59a_0_19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3120ba7d59a_0_20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24" name="Google Shape;424;g3120ba7d59a_0_20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3120ba7d59a_0_20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31" name="Google Shape;431;g3120ba7d59a_0_20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3120ba7d59a_0_21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UnhandledException - очень полезное событие, позволяет залогировать необработанные исключения приводящие к краху процесса (пример - из других потоков (если у них нет глобального обработчика, например запущены каким-то левым кодом))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Если приложение упало, а логи не записались – можно поискать стектрейс в логах винды и линукса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38" name="Google Shape;438;g3120ba7d59a_0_2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120ba7d59a_0_22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49" name="Google Shape;449;g3120ba7d59a_0_2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3120ba7d59a_0_23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55" name="Google Shape;455;g3120ba7d59a_0_2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g3120ba7d59a_0_24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61" name="Google Shape;461;g3120ba7d59a_0_24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3120ba7d59a_0_25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Создавать потоки самим – неудобно, ещё это дорогая операция из-за вызовов API ОС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Roboto Mono"/>
                <a:ea typeface="Roboto Mono"/>
                <a:cs typeface="Roboto Mono"/>
                <a:sym typeface="Roboto Mono"/>
              </a:rPr>
              <a:t>Thread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 создаёт новый системный поток - это дорого и требует ручного управления (старт, завершение, ошибки).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Roboto Mono"/>
                <a:ea typeface="Roboto Mono"/>
                <a:cs typeface="Roboto Mono"/>
                <a:sym typeface="Roboto Mono"/>
              </a:rPr>
              <a:t>Task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 проще и эффективнее: он использует потоки из пула (ThreadPool), не создавая каждый раз новый.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Roboto Mono"/>
                <a:ea typeface="Roboto Mono"/>
                <a:cs typeface="Roboto Mono"/>
                <a:sym typeface="Roboto Mono"/>
              </a:rPr>
              <a:t>Task.Run()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 - предпочтительный способ запускать фоновые операции.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Roboto Mono"/>
                <a:ea typeface="Roboto Mono"/>
                <a:cs typeface="Roboto Mono"/>
                <a:sym typeface="Roboto Mono"/>
              </a:rPr>
              <a:t>Task&lt;T&gt;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 может возвращать результат, в отличие от </a:t>
            </a:r>
            <a:r>
              <a:rPr lang="ru-RU">
                <a:latin typeface="Roboto Mono"/>
                <a:ea typeface="Roboto Mono"/>
                <a:cs typeface="Roboto Mono"/>
                <a:sym typeface="Roboto Mono"/>
              </a:rPr>
              <a:t>Thread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Не каждый </a:t>
            </a:r>
            <a:r>
              <a:rPr lang="ru-RU">
                <a:latin typeface="Roboto Mono"/>
                <a:ea typeface="Roboto Mono"/>
                <a:cs typeface="Roboto Mono"/>
                <a:sym typeface="Roboto Mono"/>
              </a:rPr>
              <a:t>Task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 - новый поток: среда сама решает, на каком потоке выполнить задачу.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72" name="Google Shape;472;g3120ba7d59a_0_25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g3120ba7d59a_0_27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Если запустить задачу через </a:t>
            </a:r>
            <a:r>
              <a:rPr lang="ru-RU">
                <a:latin typeface="Roboto Mono"/>
                <a:ea typeface="Roboto Mono"/>
                <a:cs typeface="Roboto Mono"/>
                <a:sym typeface="Roboto Mono"/>
              </a:rPr>
              <a:t>Task.Run()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 внутри </a:t>
            </a:r>
            <a:r>
              <a:rPr lang="ru-RU">
                <a:latin typeface="Roboto Mono"/>
                <a:ea typeface="Roboto Mono"/>
                <a:cs typeface="Roboto Mono"/>
                <a:sym typeface="Roboto Mono"/>
              </a:rPr>
              <a:t>try/catch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, исключения из неё не будут пойманы — </a:t>
            </a:r>
            <a:r>
              <a:rPr lang="ru-RU">
                <a:latin typeface="Roboto Mono"/>
                <a:ea typeface="Roboto Mono"/>
                <a:cs typeface="Roboto Mono"/>
                <a:sym typeface="Roboto Mono"/>
              </a:rPr>
              <a:t>try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 завершится раньше, чем задача.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Асинхронная операция выполняется в другом контексте, и ошибки нужно обрабатывать внутри таска или через продолжение (</a:t>
            </a:r>
            <a:r>
              <a:rPr lang="ru-RU">
                <a:latin typeface="Roboto Mono"/>
                <a:ea typeface="Roboto Mono"/>
                <a:cs typeface="Roboto Mono"/>
                <a:sym typeface="Roboto Mono"/>
              </a:rPr>
              <a:t>ContinueWith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).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В </a:t>
            </a:r>
            <a:r>
              <a:rPr lang="ru-RU">
                <a:latin typeface="Roboto Mono"/>
                <a:ea typeface="Roboto Mono"/>
                <a:cs typeface="Roboto Mono"/>
                <a:sym typeface="Roboto Mono"/>
              </a:rPr>
              <a:t>Task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 исключения сохраняются в свойстве </a:t>
            </a:r>
            <a:r>
              <a:rPr lang="ru-RU">
                <a:latin typeface="Roboto Mono"/>
                <a:ea typeface="Roboto Mono"/>
                <a:cs typeface="Roboto Mono"/>
                <a:sym typeface="Roboto Mono"/>
              </a:rPr>
              <a:t>task.Exception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 в виде </a:t>
            </a:r>
            <a:r>
              <a:rPr lang="ru-RU">
                <a:latin typeface="Roboto Mono"/>
                <a:ea typeface="Roboto Mono"/>
                <a:cs typeface="Roboto Mono"/>
                <a:sym typeface="Roboto Mono"/>
              </a:rPr>
              <a:t>AggregateException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 (может содержать несколько ошибок).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В примере с </a:t>
            </a:r>
            <a:r>
              <a:rPr lang="ru-RU">
                <a:latin typeface="Roboto Mono"/>
                <a:ea typeface="Roboto Mono"/>
                <a:cs typeface="Roboto Mono"/>
                <a:sym typeface="Roboto Mono"/>
              </a:rPr>
              <a:t>ContinueWith</a:t>
            </a:r>
            <a:r>
              <a:rPr lang="ru-RU">
                <a:latin typeface="Arial"/>
                <a:ea typeface="Arial"/>
                <a:cs typeface="Arial"/>
                <a:sym typeface="Arial"/>
              </a:rPr>
              <a:t> можно централизованно обработать исключения:</a:t>
            </a:r>
            <a:endParaRPr/>
          </a:p>
        </p:txBody>
      </p:sp>
      <p:sp>
        <p:nvSpPr>
          <p:cNvPr id="480" name="Google Shape;480;g3120ba7d59a_0_27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3120ba7d59a_0_30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TypeInitializationException — ошибка при инициализации типа; может сигнализировать о серьёзной проблеме в статическом конструкторе.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StackOverflowException — переполнение стека; обычно приводит к аварийному завершению приложения.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AccessViolationException — нарушение доступа к памяти; небезопасно пытаться ловить.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OutOfMemoryException — нехватка памяти; приложение часто уже не может корректно работать.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ThreadAbortException — поток прерывается извне; обычно система сама управляет поведением.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br>
              <a:rPr lang="ru-RU">
                <a:latin typeface="Arial"/>
                <a:ea typeface="Arial"/>
                <a:cs typeface="Arial"/>
                <a:sym typeface="Arial"/>
              </a:rPr>
            </a:br>
            <a:r>
              <a:rPr lang="ru-RU">
                <a:latin typeface="Arial"/>
                <a:ea typeface="Arial"/>
                <a:cs typeface="Arial"/>
                <a:sym typeface="Arial"/>
              </a:rPr>
              <a:t>Не пытайся “спасти” приложение от таких исключений, лучше дать им завершить работу и логировать.</a:t>
            </a:r>
            <a:br>
              <a:rPr lang="ru-RU">
                <a:latin typeface="Arial"/>
                <a:ea typeface="Arial"/>
                <a:cs typeface="Arial"/>
                <a:sym typeface="Arial"/>
              </a:rPr>
            </a:br>
            <a:r>
              <a:rPr lang="ru-RU">
                <a:latin typeface="Arial"/>
                <a:ea typeface="Arial"/>
                <a:cs typeface="Arial"/>
                <a:sym typeface="Arial"/>
              </a:rPr>
              <a:t>Обрабатывать можно только для логирования или очистки ресурсов, но не для продолжения работы.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g3120ba7d59a_0_30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g3120ba7d59a_0_32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Какие ошибки и в каком порядке мы увидим?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начинается выполнение Main().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Первая строка в Main() выводит "main".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Статические поля инициализируются в порядке объявления.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Поле S присваивается успешно.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При инициализации Instance вызывается конструктор Program().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Конструктор выводит "ctor" и выбрасывает Exception.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Исключение оборачивается в TypeInitializationException.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Приложение падает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g3120ba7d59a_0_3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120ba7d59a_0_34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Не все исключения ведут себя одинаково, давайте посмотрим на случаи необычного поведения try/catch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SO можно перехватить, только если мы выбросили его сами, «настоящий» SO рушит процесс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Не используйте StackOverflowException в логике своей программы. </a:t>
            </a:r>
            <a:endParaRPr/>
          </a:p>
        </p:txBody>
      </p:sp>
      <p:sp>
        <p:nvSpPr>
          <p:cNvPr id="511" name="Google Shape;511;g3120ba7d59a_0_34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g3120ba7d59a_0_36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как избежать со исключения?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Некст слайд: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Не используйте StackOverflowException в логике своей программы. Вызывая рекурсивный метод – оценивайте глубину рекурсии или передавайте глубину рекурсии в параметрах метода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19" name="Google Shape;519;g3120ba7d59a_0_36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g3120ba7d59a_0_3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Вызывая рекурсивный метод – оценивайте глубину рекурсии или передавайте глубину рекурсии в параметрах метода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26" name="Google Shape;526;g3120ba7d59a_0_3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120ba7d59a_0_37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void* ptr не инициализирован - любое разыменование вызовет неопределённое поведение или падение.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Метод ToFloat использует небезопасное приведение через указатель, что может привести к ошибкам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Использование unsafe снимает защиту CLR, поэтому любая ошибка с памятью может привести к падению приложения или corruption данных.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В общем, код небезопасен и требует осторожности, подходит только для низкоуровневых оптимизаций и системного программирования.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3" name="Google Shape;533;g3120ba7d59a_0_37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8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g3120ba7d59a_0_38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40" name="Google Shape;540;g3120ba7d59a_0_38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g3120ba7d59a_0_40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ThreadAbortException может возникнуть в неожиданных местах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После обработки перевыбрасывается снова, как будто в конце catch написан throw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Обрабатывается рантаймом, не валит процесс. Это свойство сохраняется, даже если исключение выброшено вручную.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(что будет, если в catch будет выброшено новое исключение?)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Если в catch выбросить новое исключение, оно заменит ThreadAbortException на это новое исключение внутри catch, но после завершения catch CLR всё равно продолжит попытку завершить поток, и ThreadAbortException может быть вновь сгенерирован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" name="Google Shape;552;g3120ba7d59a_0_40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120ba7d59a_0_41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Отмену потока можно отменить</a:t>
            </a:r>
            <a:endParaRPr/>
          </a:p>
        </p:txBody>
      </p:sp>
      <p:sp>
        <p:nvSpPr>
          <p:cNvPr id="561" name="Google Shape;561;g3120ba7d59a_0_4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g3120ba7d59a_0_42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Использовать флаги, токены отмены (CancellationToken) или другие безопасные механизмы завершения.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Такой подход обеспечивает корректное завершение и освобождение ресурсов, без риска падения приложения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g3120ba7d59a_0_4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3120ba7d59a_0_4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Мы все иногда пишем код, который может выделить слишком много памяти. В дотнете это может закончиться OutOfMemoryException’ом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Что же будет после OutOfMemory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80" name="Google Shape;580;g3120ba7d59a_0_4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120ba7d59a_0_45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87" name="Google Shape;587;g3120ba7d59a_0_45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120ba7d59a_0_46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01" name="Google Shape;601;g3120ba7d59a_0_46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6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3120ba7d59a_0_48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Все варианты правильные, конкретный зависит больше от рандома.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 StackOverflow, AccessViolation и OutOfMemory могут превращаться друг в друга при обработке внутри рантайма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08" name="Google Shape;608;g3120ba7d59a_0_48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g3120ba7d59a_0_5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Чем плох код?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объект bigFile создаётся до блока try, поэтому если CreateFile() выбросит исключение, блок finally не выполнится, и файл не будет удалён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finally гарантирует выполнение только для объектов, которые были успешно созданы, поэтому нужно контролировать порядок создания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4" name="Google Shape;624;g3120ba7d59a_0_5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120ba7d59a_0_52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Finally – фича дотнета, ОС она безразлична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finally работает, пока процесс и рантайм работают нормально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Но finally имеет смысл использовать лишь для выполнения кода в независимости от наличия исключения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Нестандартное применение – код в finally не прерывается ThreadAbortException’ом. Это иногда используется в самом дотнете. Не используйте это, пока не найдёте, где это написано в документаци!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31" name="Google Shape;631;g3120ba7d59a_0_5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g3665e2fb9b3_1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7" name="Google Shape;647;g3665e2fb9b3_1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48" name="Google Shape;648;g3665e2fb9b3_1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3665e2fb9b3_1_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58" name="Google Shape;658;g3665e2fb9b3_1_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g3665e2fb9b3_1_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72" name="Google Shape;672;g3665e2fb9b3_1_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4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g3665e2fb9b3_1_3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86" name="Google Shape;686;g3665e2fb9b3_1_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g3665e2fb9b3_1_5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04" name="Google Shape;704;g3665e2fb9b3_1_5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8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3665e2fb9b3_1_7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10" name="Google Shape;710;g3665e2fb9b3_1_7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5" name="Shape 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Google Shape;716;g3665e2fb9b3_1_7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17" name="Google Shape;717;g3665e2fb9b3_1_7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2" name="Shape 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Google Shape;723;g3665e2fb9b3_1_8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24" name="Google Shape;724;g3665e2fb9b3_1_8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3665e2fb9b3_1_9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31" name="Google Shape;731;g3665e2fb9b3_1_9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g3665e2fb9b3_1_10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38" name="Google Shape;738;g3665e2fb9b3_1_10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g3665e2fb9b3_3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45" name="Google Shape;745;g3665e2fb9b3_3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9" name="Shape 7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Google Shape;750;g3665e2fb9b3_3_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51" name="Google Shape;751;g3665e2fb9b3_3_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3665e2fb9b3_3_1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58" name="Google Shape;758;g3665e2fb9b3_3_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3665e2fb9b3_3_2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67" name="Google Shape;767;g3665e2fb9b3_3_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g3665e2fb9b3_3_2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73" name="Google Shape;773;g3665e2fb9b3_3_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2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g3665e2fb9b3_3_4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84" name="Google Shape;784;g3665e2fb9b3_3_4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3665e2fb9b3_3_5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93" name="Google Shape;793;g3665e2fb9b3_3_5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3665e2fb9b3_3_6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05" name="Google Shape;805;g3665e2fb9b3_3_6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3665e2fb9b3_3_7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11" name="Google Shape;811;g3665e2fb9b3_3_7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1" name="Shape 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Google Shape;822;g3665e2fb9b3_3_8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23" name="Google Shape;823;g3665e2fb9b3_3_8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7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g3665e2fb9b3_3_10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39" name="Google Shape;839;g3665e2fb9b3_3_10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3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g3665e2fb9b3_3_1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45" name="Google Shape;845;g3665e2fb9b3_3_1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0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g3665e2fb9b3_3_11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52" name="Google Shape;852;g3665e2fb9b3_3_1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0" name="Shape 8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Google Shape;861;g3665e2fb9b3_3_12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2" name="Google Shape;862;g3665e2fb9b3_3_1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0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Google Shape;871;g3665e2fb9b3_3_1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72" name="Google Shape;872;g3665e2fb9b3_3_1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Google Shape;881;g3665e2fb9b3_3_15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82" name="Google Shape;882;g3665e2fb9b3_3_15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6" name="Shape 8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Google Shape;887;g3665e2fb9b3_3_15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88" name="Google Shape;888;g3665e2fb9b3_3_15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8" name="Shape 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oogle Shape;899;g3665e2fb9b3_7_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00" name="Google Shape;900;g3665e2fb9b3_7_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5" name="Shape 9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Google Shape;906;g3665e2fb9b3_7_1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07" name="Google Shape;907;g3665e2fb9b3_7_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g3665e2fb9b3_7_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14" name="Google Shape;914;g3665e2fb9b3_7_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g3665e2fb9b3_7_3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Исправь как можно больше ошибок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Вместе с фамилиями указать стол – в Names в ConvertersProgram_should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progressBoard – мониторить и подсказывать по нему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26" name="Google Shape;926;g3665e2fb9b3_7_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1" name="Shape 9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2" name="Google Shape;932;g3665e2fb9b3_7_4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Исправь как можно больше ошибок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Вместе с фамилиями указать стол – в Names в ConvertersProgram_should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progressBoard – мониторить и подсказывать по нему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33" name="Google Shape;933;g3665e2fb9b3_7_4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3665e2fb9b3_7_4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Исправь как можно больше ошибок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Вместе с фамилиями указать стол – в Names в ConvertersProgram_should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progressBoard – мониторить и подсказывать по нему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40" name="Google Shape;940;g3665e2fb9b3_7_4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2" name="Shape 9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Google Shape;953;g3665e2fb9b3_7_6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Исправь как можно больше ошибок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Вместе с фамилиями указать стол – в Names в ConvertersProgram_should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progressBoard – мониторить и подсказывать по нему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54" name="Google Shape;954;g3665e2fb9b3_7_6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6" name="Shape 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g3665e2fb9b3_7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Исправь как можно больше ошибок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Вместе с фамилиями указать стол – в Names в ConvertersProgram_should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progressBoard – мониторить и подсказывать по нему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68" name="Google Shape;968;g3665e2fb9b3_7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8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g3665e2fb9b3_7_10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80" name="Google Shape;980;g3665e2fb9b3_7_10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5" name="Shape 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Google Shape;986;g3665e2fb9b3_7_11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87" name="Google Shape;987;g3665e2fb9b3_7_1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2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g3665e2fb9b3_7_15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94" name="Google Shape;994;g3665e2fb9b3_7_15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g3665e2fb9b3_7_1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03" name="Google Shape;1003;g3665e2fb9b3_7_1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2" name="Shape 10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" name="Google Shape;1013;g3665e2fb9b3_7_20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14" name="Google Shape;1014;g3665e2fb9b3_7_20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4" name="Shape 10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Google Shape;1025;g3665e2fb9b3_7_22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26" name="Google Shape;1026;g3665e2fb9b3_7_2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8" name="Shape 1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Google Shape;1039;g3665e2fb9b3_7_23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40" name="Google Shape;1040;g3665e2fb9b3_7_2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3" name="Shape 10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Google Shape;1054;g3665e2fb9b3_7_25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5" name="Google Shape;1055;g3665e2fb9b3_7_25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0" name="Shape 10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Google Shape;1071;g3665e2fb9b3_7_29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72" name="Google Shape;1072;g3665e2fb9b3_7_29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1" name="Shape 10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2" name="Google Shape;1082;g3665e2fb9b3_7_26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Просто разбудим всех, подискутировать.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Может, нормальный, а может, плохой: что именно пошло не так? Как отличить нормальную ситуацию от ненормально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83" name="Google Shape;1083;g3665e2fb9b3_7_26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3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Google Shape;1094;g3120ba7d59a_0_85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5" name="Google Shape;1095;g3120ba7d59a_0_85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96" name="Google Shape;1096;g3120ba7d59a_0_85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 1">
  <p:cSld name="Титул 1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9"/>
          <p:cNvSpPr txBox="1"/>
          <p:nvPr>
            <p:ph type="title"/>
          </p:nvPr>
        </p:nvSpPr>
        <p:spPr>
          <a:xfrm>
            <a:off x="594749" y="584200"/>
            <a:ext cx="5400000" cy="30137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/>
        </p:txBody>
      </p:sp>
      <p:sp>
        <p:nvSpPr>
          <p:cNvPr id="17" name="Google Shape;17;p49"/>
          <p:cNvSpPr txBox="1"/>
          <p:nvPr>
            <p:ph idx="1" type="body"/>
          </p:nvPr>
        </p:nvSpPr>
        <p:spPr>
          <a:xfrm>
            <a:off x="594748" y="4218108"/>
            <a:ext cx="5400000" cy="3489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49"/>
          <p:cNvSpPr txBox="1"/>
          <p:nvPr>
            <p:ph idx="2" type="body"/>
          </p:nvPr>
        </p:nvSpPr>
        <p:spPr>
          <a:xfrm>
            <a:off x="594748" y="4598572"/>
            <a:ext cx="5399999" cy="6757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49"/>
          <p:cNvSpPr txBox="1"/>
          <p:nvPr>
            <p:ph idx="3" type="body"/>
          </p:nvPr>
        </p:nvSpPr>
        <p:spPr>
          <a:xfrm>
            <a:off x="8183217" y="5875893"/>
            <a:ext cx="3421408" cy="2919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49"/>
          <p:cNvSpPr/>
          <p:nvPr/>
        </p:nvSpPr>
        <p:spPr>
          <a:xfrm>
            <a:off x="7105925" y="1143250"/>
            <a:ext cx="3959400" cy="3959400"/>
          </a:xfrm>
          <a:prstGeom prst="roundRect">
            <a:avLst>
              <a:gd fmla="val 16667" name="adj"/>
            </a:avLst>
          </a:prstGeom>
          <a:solidFill>
            <a:srgbClr val="262626"/>
          </a:solidFill>
          <a:ln cap="flat" cmpd="sng" w="9525">
            <a:solidFill>
              <a:srgbClr val="26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" name="Google Shape;21;p49"/>
          <p:cNvSpPr/>
          <p:nvPr>
            <p:ph idx="4" type="pic"/>
          </p:nvPr>
        </p:nvSpPr>
        <p:spPr>
          <a:xfrm>
            <a:off x="7637939" y="604401"/>
            <a:ext cx="3959400" cy="39594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pic>
        <p:nvPicPr>
          <p:cNvPr id="22" name="Google Shape;22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60871" y="5935162"/>
            <a:ext cx="1130919" cy="2997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тбивка_1">
  <p:cSld name="Отбивка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76"/>
          <p:cNvSpPr txBox="1"/>
          <p:nvPr>
            <p:ph type="title"/>
          </p:nvPr>
        </p:nvSpPr>
        <p:spPr>
          <a:xfrm>
            <a:off x="587375" y="584200"/>
            <a:ext cx="6118225" cy="5581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аблица">
  <p:cSld name="Таблица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80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екстовый">
  <p:cSld name="Текстовый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2"/>
          <p:cNvSpPr txBox="1"/>
          <p:nvPr>
            <p:ph idx="1" type="body"/>
          </p:nvPr>
        </p:nvSpPr>
        <p:spPr>
          <a:xfrm>
            <a:off x="587375" y="584200"/>
            <a:ext cx="11017250" cy="55816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в 1 строку + список">
  <p:cSld name="Заголовок в 1 строку + список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0"/>
          <p:cNvSpPr txBox="1"/>
          <p:nvPr>
            <p:ph idx="1" type="body"/>
          </p:nvPr>
        </p:nvSpPr>
        <p:spPr>
          <a:xfrm>
            <a:off x="587375" y="2528889"/>
            <a:ext cx="11017251" cy="3636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50"/>
          <p:cNvSpPr txBox="1"/>
          <p:nvPr>
            <p:ph type="title"/>
          </p:nvPr>
        </p:nvSpPr>
        <p:spPr>
          <a:xfrm>
            <a:off x="587375" y="584200"/>
            <a:ext cx="11017249" cy="122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139">
          <p15:clr>
            <a:srgbClr val="5ACBF0"/>
          </p15:clr>
        </p15:guide>
        <p15:guide id="2" orient="horz" pos="1593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текст 2 колонки">
  <p:cSld name="Заголовок + текст 2 колонки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1"/>
          <p:cNvSpPr txBox="1"/>
          <p:nvPr>
            <p:ph idx="1" type="body"/>
          </p:nvPr>
        </p:nvSpPr>
        <p:spPr>
          <a:xfrm>
            <a:off x="587374" y="2528888"/>
            <a:ext cx="5220000" cy="36369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" name="Google Shape;34;p51"/>
          <p:cNvSpPr txBox="1"/>
          <p:nvPr>
            <p:ph idx="2" type="body"/>
          </p:nvPr>
        </p:nvSpPr>
        <p:spPr>
          <a:xfrm>
            <a:off x="6384624" y="2528888"/>
            <a:ext cx="5220000" cy="36369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51"/>
          <p:cNvSpPr txBox="1"/>
          <p:nvPr>
            <p:ph type="title"/>
          </p:nvPr>
        </p:nvSpPr>
        <p:spPr>
          <a:xfrm>
            <a:off x="587375" y="584200"/>
            <a:ext cx="11017249" cy="122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139">
          <p15:clr>
            <a:srgbClr val="5ACBF0"/>
          </p15:clr>
        </p15:guide>
        <p15:guide id="2" orient="horz" pos="1593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 3">
  <p:cSld name="Титул 2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2870f9e6fac_0_7"/>
          <p:cNvSpPr txBox="1"/>
          <p:nvPr>
            <p:ph type="title"/>
          </p:nvPr>
        </p:nvSpPr>
        <p:spPr>
          <a:xfrm>
            <a:off x="594749" y="584200"/>
            <a:ext cx="5400000" cy="301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/>
        </p:txBody>
      </p:sp>
      <p:sp>
        <p:nvSpPr>
          <p:cNvPr id="38" name="Google Shape;38;g2870f9e6fac_0_7"/>
          <p:cNvSpPr/>
          <p:nvPr>
            <p:ph idx="2" type="pic"/>
          </p:nvPr>
        </p:nvSpPr>
        <p:spPr>
          <a:xfrm>
            <a:off x="7098224" y="584200"/>
            <a:ext cx="4500000" cy="5581649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39" name="Google Shape;39;g2870f9e6fac_0_7"/>
          <p:cNvSpPr txBox="1"/>
          <p:nvPr>
            <p:ph idx="1" type="body"/>
          </p:nvPr>
        </p:nvSpPr>
        <p:spPr>
          <a:xfrm>
            <a:off x="594748" y="4218108"/>
            <a:ext cx="5400000" cy="3489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g2870f9e6fac_0_7"/>
          <p:cNvSpPr txBox="1"/>
          <p:nvPr>
            <p:ph idx="3" type="body"/>
          </p:nvPr>
        </p:nvSpPr>
        <p:spPr>
          <a:xfrm>
            <a:off x="594748" y="4598572"/>
            <a:ext cx="5399999" cy="6757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41" name="Google Shape;41;g2870f9e6fac_0_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60871" y="5935162"/>
            <a:ext cx="1130919" cy="2997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лайд">
  <p:cSld name="Титул 3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3;p6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60871" y="5935162"/>
            <a:ext cx="1130919" cy="299762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67"/>
          <p:cNvSpPr txBox="1"/>
          <p:nvPr>
            <p:ph type="title"/>
          </p:nvPr>
        </p:nvSpPr>
        <p:spPr>
          <a:xfrm>
            <a:off x="594749" y="584200"/>
            <a:ext cx="7588468" cy="301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/>
        </p:txBody>
      </p:sp>
      <p:sp>
        <p:nvSpPr>
          <p:cNvPr id="45" name="Google Shape;45;p67"/>
          <p:cNvSpPr txBox="1"/>
          <p:nvPr>
            <p:ph idx="1" type="body"/>
          </p:nvPr>
        </p:nvSpPr>
        <p:spPr>
          <a:xfrm>
            <a:off x="8183217" y="5875893"/>
            <a:ext cx="3421408" cy="2919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67"/>
          <p:cNvSpPr txBox="1"/>
          <p:nvPr>
            <p:ph idx="2" type="body"/>
          </p:nvPr>
        </p:nvSpPr>
        <p:spPr>
          <a:xfrm>
            <a:off x="594748" y="4218108"/>
            <a:ext cx="5400000" cy="3489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67"/>
          <p:cNvSpPr txBox="1"/>
          <p:nvPr>
            <p:ph idx="3" type="body"/>
          </p:nvPr>
        </p:nvSpPr>
        <p:spPr>
          <a:xfrm>
            <a:off x="594748" y="4598572"/>
            <a:ext cx="5399999" cy="6757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в 1 строку + текст">
  <p:cSld name="Заголовок в 1 строку + текст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55"/>
          <p:cNvSpPr txBox="1"/>
          <p:nvPr>
            <p:ph type="title"/>
          </p:nvPr>
        </p:nvSpPr>
        <p:spPr>
          <a:xfrm>
            <a:off x="587375" y="584200"/>
            <a:ext cx="11017249" cy="122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55"/>
          <p:cNvSpPr txBox="1"/>
          <p:nvPr>
            <p:ph idx="1" type="body"/>
          </p:nvPr>
        </p:nvSpPr>
        <p:spPr>
          <a:xfrm>
            <a:off x="587375" y="2528888"/>
            <a:ext cx="11017251" cy="3636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139">
          <p15:clr>
            <a:srgbClr val="5ACBF0"/>
          </p15:clr>
        </p15:guide>
        <p15:guide id="2" orient="horz" pos="1593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Крупный тезис">
  <p:cSld name="Крупный тезис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57"/>
          <p:cNvSpPr txBox="1"/>
          <p:nvPr>
            <p:ph idx="1" type="body"/>
          </p:nvPr>
        </p:nvSpPr>
        <p:spPr>
          <a:xfrm>
            <a:off x="587375" y="5075583"/>
            <a:ext cx="7200000" cy="109026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3" name="Google Shape;53;p57"/>
          <p:cNvSpPr txBox="1"/>
          <p:nvPr>
            <p:ph type="title"/>
          </p:nvPr>
        </p:nvSpPr>
        <p:spPr>
          <a:xfrm>
            <a:off x="587375" y="584200"/>
            <a:ext cx="7200000" cy="36080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0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цифры крупно">
  <p:cSld name="2 цифры крупно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58"/>
          <p:cNvSpPr txBox="1"/>
          <p:nvPr>
            <p:ph idx="1" type="subTitle"/>
          </p:nvPr>
        </p:nvSpPr>
        <p:spPr>
          <a:xfrm>
            <a:off x="587375" y="4332747"/>
            <a:ext cx="4679284" cy="12861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56" name="Google Shape;56;p58"/>
          <p:cNvSpPr txBox="1"/>
          <p:nvPr>
            <p:ph idx="2" type="body"/>
          </p:nvPr>
        </p:nvSpPr>
        <p:spPr>
          <a:xfrm>
            <a:off x="587374" y="2882349"/>
            <a:ext cx="4679285" cy="12035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b="1" sz="11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57" name="Google Shape;57;p58"/>
          <p:cNvSpPr txBox="1"/>
          <p:nvPr>
            <p:ph idx="3" type="body"/>
          </p:nvPr>
        </p:nvSpPr>
        <p:spPr>
          <a:xfrm>
            <a:off x="6116209" y="2882349"/>
            <a:ext cx="4679284" cy="12035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b="1" sz="11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58" name="Google Shape;58;p58"/>
          <p:cNvSpPr txBox="1"/>
          <p:nvPr>
            <p:ph idx="4" type="body"/>
          </p:nvPr>
        </p:nvSpPr>
        <p:spPr>
          <a:xfrm>
            <a:off x="6116208" y="4332748"/>
            <a:ext cx="4679283" cy="12861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9" name="Google Shape;59;p58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 фактов">
  <p:cSld name="6 важных цифр 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63"/>
          <p:cNvSpPr txBox="1"/>
          <p:nvPr>
            <p:ph idx="1" type="body"/>
          </p:nvPr>
        </p:nvSpPr>
        <p:spPr>
          <a:xfrm>
            <a:off x="81488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2" name="Google Shape;62;p63"/>
          <p:cNvSpPr txBox="1"/>
          <p:nvPr>
            <p:ph idx="2" type="body"/>
          </p:nvPr>
        </p:nvSpPr>
        <p:spPr>
          <a:xfrm>
            <a:off x="8148863" y="3809879"/>
            <a:ext cx="3239996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63" name="Google Shape;63;p63"/>
          <p:cNvSpPr txBox="1"/>
          <p:nvPr>
            <p:ph idx="3" type="body"/>
          </p:nvPr>
        </p:nvSpPr>
        <p:spPr>
          <a:xfrm>
            <a:off x="81488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4" name="Google Shape;64;p63"/>
          <p:cNvSpPr txBox="1"/>
          <p:nvPr>
            <p:ph idx="4" type="body"/>
          </p:nvPr>
        </p:nvSpPr>
        <p:spPr>
          <a:xfrm>
            <a:off x="8148863" y="1382737"/>
            <a:ext cx="323999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65" name="Google Shape;65;p63"/>
          <p:cNvSpPr txBox="1"/>
          <p:nvPr>
            <p:ph type="title"/>
          </p:nvPr>
        </p:nvSpPr>
        <p:spPr>
          <a:xfrm>
            <a:off x="587375" y="584200"/>
            <a:ext cx="11017249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63"/>
          <p:cNvSpPr txBox="1"/>
          <p:nvPr>
            <p:ph idx="5" type="body"/>
          </p:nvPr>
        </p:nvSpPr>
        <p:spPr>
          <a:xfrm>
            <a:off x="58601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63"/>
          <p:cNvSpPr txBox="1"/>
          <p:nvPr>
            <p:ph idx="6" type="body"/>
          </p:nvPr>
        </p:nvSpPr>
        <p:spPr>
          <a:xfrm>
            <a:off x="586012" y="1382737"/>
            <a:ext cx="3239999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68" name="Google Shape;68;p63"/>
          <p:cNvSpPr txBox="1"/>
          <p:nvPr>
            <p:ph idx="7" type="body"/>
          </p:nvPr>
        </p:nvSpPr>
        <p:spPr>
          <a:xfrm>
            <a:off x="58601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9" name="Google Shape;69;p63"/>
          <p:cNvSpPr txBox="1"/>
          <p:nvPr>
            <p:ph idx="8" type="body"/>
          </p:nvPr>
        </p:nvSpPr>
        <p:spPr>
          <a:xfrm>
            <a:off x="586013" y="3809879"/>
            <a:ext cx="323999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70" name="Google Shape;70;p63"/>
          <p:cNvSpPr txBox="1"/>
          <p:nvPr>
            <p:ph idx="9" type="body"/>
          </p:nvPr>
        </p:nvSpPr>
        <p:spPr>
          <a:xfrm>
            <a:off x="43769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63"/>
          <p:cNvSpPr txBox="1"/>
          <p:nvPr>
            <p:ph idx="13" type="body"/>
          </p:nvPr>
        </p:nvSpPr>
        <p:spPr>
          <a:xfrm>
            <a:off x="4376962" y="1382737"/>
            <a:ext cx="3239999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72" name="Google Shape;72;p63"/>
          <p:cNvSpPr txBox="1"/>
          <p:nvPr>
            <p:ph idx="14" type="body"/>
          </p:nvPr>
        </p:nvSpPr>
        <p:spPr>
          <a:xfrm>
            <a:off x="43769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63"/>
          <p:cNvSpPr txBox="1"/>
          <p:nvPr>
            <p:ph idx="15" type="body"/>
          </p:nvPr>
        </p:nvSpPr>
        <p:spPr>
          <a:xfrm>
            <a:off x="4376962" y="3809879"/>
            <a:ext cx="3239997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аймлайн">
  <p:cSld name="1_таймлайн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59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76" name="Google Shape;76;p5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87375" y="2966453"/>
            <a:ext cx="11017248" cy="729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факта">
  <p:cSld name="3 факта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60"/>
          <p:cNvSpPr txBox="1"/>
          <p:nvPr>
            <p:ph idx="1" type="body"/>
          </p:nvPr>
        </p:nvSpPr>
        <p:spPr>
          <a:xfrm>
            <a:off x="587375" y="3485314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79" name="Google Shape;79;p60"/>
          <p:cNvSpPr txBox="1"/>
          <p:nvPr>
            <p:ph idx="2" type="subTitle"/>
          </p:nvPr>
        </p:nvSpPr>
        <p:spPr>
          <a:xfrm>
            <a:off x="587375" y="4536369"/>
            <a:ext cx="2884941" cy="1628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80" name="Google Shape;80;p60"/>
          <p:cNvSpPr txBox="1"/>
          <p:nvPr>
            <p:ph idx="3" type="body"/>
          </p:nvPr>
        </p:nvSpPr>
        <p:spPr>
          <a:xfrm>
            <a:off x="4195798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60"/>
          <p:cNvSpPr txBox="1"/>
          <p:nvPr>
            <p:ph idx="4" type="body"/>
          </p:nvPr>
        </p:nvSpPr>
        <p:spPr>
          <a:xfrm>
            <a:off x="7793104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60"/>
          <p:cNvSpPr txBox="1"/>
          <p:nvPr>
            <p:ph idx="5" type="body"/>
          </p:nvPr>
        </p:nvSpPr>
        <p:spPr>
          <a:xfrm>
            <a:off x="4195798" y="3489182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83" name="Google Shape;83;p60"/>
          <p:cNvSpPr txBox="1"/>
          <p:nvPr>
            <p:ph idx="6" type="body"/>
          </p:nvPr>
        </p:nvSpPr>
        <p:spPr>
          <a:xfrm>
            <a:off x="7804221" y="3489182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84" name="Google Shape;84;p60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факта классика">
  <p:cSld name="4 карточки факта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f4199bcb4c_2_299"/>
          <p:cNvSpPr txBox="1"/>
          <p:nvPr>
            <p:ph idx="1" type="body"/>
          </p:nvPr>
        </p:nvSpPr>
        <p:spPr>
          <a:xfrm>
            <a:off x="917625" y="2528888"/>
            <a:ext cx="648300" cy="7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87" name="Google Shape;87;g1f4199bcb4c_2_299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88" name="Google Shape;88;g1f4199bcb4c_2_299"/>
          <p:cNvSpPr txBox="1"/>
          <p:nvPr>
            <p:ph idx="2" type="body"/>
          </p:nvPr>
        </p:nvSpPr>
        <p:spPr>
          <a:xfrm>
            <a:off x="917625" y="4605025"/>
            <a:ext cx="648300" cy="7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89" name="Google Shape;89;g1f4199bcb4c_2_299"/>
          <p:cNvSpPr txBox="1"/>
          <p:nvPr>
            <p:ph idx="3" type="body"/>
          </p:nvPr>
        </p:nvSpPr>
        <p:spPr>
          <a:xfrm>
            <a:off x="6574122" y="4605025"/>
            <a:ext cx="648300" cy="7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90" name="Google Shape;90;g1f4199bcb4c_2_299"/>
          <p:cNvSpPr txBox="1"/>
          <p:nvPr>
            <p:ph idx="4" type="subTitle"/>
          </p:nvPr>
        </p:nvSpPr>
        <p:spPr>
          <a:xfrm>
            <a:off x="1716374" y="2528888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91" name="Google Shape;91;g1f4199bcb4c_2_299"/>
          <p:cNvSpPr txBox="1"/>
          <p:nvPr>
            <p:ph idx="5" type="body"/>
          </p:nvPr>
        </p:nvSpPr>
        <p:spPr>
          <a:xfrm>
            <a:off x="6574122" y="2528888"/>
            <a:ext cx="648300" cy="7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92" name="Google Shape;92;g1f4199bcb4c_2_299"/>
          <p:cNvSpPr txBox="1"/>
          <p:nvPr/>
        </p:nvSpPr>
        <p:spPr>
          <a:xfrm>
            <a:off x="7427625" y="2528888"/>
            <a:ext cx="3840600" cy="10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eologica Light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3" name="Google Shape;93;g1f4199bcb4c_2_299"/>
          <p:cNvSpPr txBox="1"/>
          <p:nvPr>
            <p:ph idx="6" type="body"/>
          </p:nvPr>
        </p:nvSpPr>
        <p:spPr>
          <a:xfrm>
            <a:off x="7360170" y="2536669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4" name="Google Shape;94;g1f4199bcb4c_2_299"/>
          <p:cNvSpPr txBox="1"/>
          <p:nvPr>
            <p:ph idx="7" type="body"/>
          </p:nvPr>
        </p:nvSpPr>
        <p:spPr>
          <a:xfrm>
            <a:off x="7360170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5" name="Google Shape;95;g1f4199bcb4c_2_299"/>
          <p:cNvSpPr txBox="1"/>
          <p:nvPr>
            <p:ph idx="8" type="body"/>
          </p:nvPr>
        </p:nvSpPr>
        <p:spPr>
          <a:xfrm>
            <a:off x="1716374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 фактов">
  <p:cSld name="5 фактов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62"/>
          <p:cNvSpPr txBox="1"/>
          <p:nvPr>
            <p:ph idx="1" type="body"/>
          </p:nvPr>
        </p:nvSpPr>
        <p:spPr>
          <a:xfrm>
            <a:off x="4362301" y="3533709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8" name="Google Shape;98;p62"/>
          <p:cNvSpPr txBox="1"/>
          <p:nvPr>
            <p:ph idx="2" type="body"/>
          </p:nvPr>
        </p:nvSpPr>
        <p:spPr>
          <a:xfrm>
            <a:off x="81488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62"/>
          <p:cNvSpPr txBox="1"/>
          <p:nvPr>
            <p:ph idx="3" type="body"/>
          </p:nvPr>
        </p:nvSpPr>
        <p:spPr>
          <a:xfrm>
            <a:off x="4362302" y="2550355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00" name="Google Shape;100;p62"/>
          <p:cNvSpPr txBox="1"/>
          <p:nvPr>
            <p:ph idx="4" type="body"/>
          </p:nvPr>
        </p:nvSpPr>
        <p:spPr>
          <a:xfrm>
            <a:off x="8148863" y="3809879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Geologica"/>
              <a:buNone/>
              <a:defRPr sz="6000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Geologica"/>
              <a:buChar char="⏤"/>
              <a:defRPr>
                <a:latin typeface="Geologica"/>
                <a:ea typeface="Geologica"/>
                <a:cs typeface="Geologica"/>
                <a:sym typeface="Geologica"/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Geologica"/>
              <a:buChar char="⏤"/>
              <a:defRPr>
                <a:latin typeface="Geologica"/>
                <a:ea typeface="Geologica"/>
                <a:cs typeface="Geologica"/>
                <a:sym typeface="Geologica"/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Geologica"/>
              <a:buChar char="⏤"/>
              <a:defRPr>
                <a:latin typeface="Geologica"/>
                <a:ea typeface="Geologica"/>
                <a:cs typeface="Geologica"/>
                <a:sym typeface="Geologica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logica"/>
              <a:buChar char="•"/>
              <a:defRPr>
                <a:latin typeface="Geologica"/>
                <a:ea typeface="Geologica"/>
                <a:cs typeface="Geologica"/>
                <a:sym typeface="Geologica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logica"/>
              <a:buChar char="•"/>
              <a:defRPr>
                <a:latin typeface="Geologica"/>
                <a:ea typeface="Geologica"/>
                <a:cs typeface="Geologica"/>
                <a:sym typeface="Geologica"/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logica"/>
              <a:buChar char="•"/>
              <a:defRPr>
                <a:latin typeface="Geologica"/>
                <a:ea typeface="Geologica"/>
                <a:cs typeface="Geologica"/>
                <a:sym typeface="Geologica"/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logica"/>
              <a:buChar char="•"/>
              <a:defRPr>
                <a:latin typeface="Geologica"/>
                <a:ea typeface="Geologica"/>
                <a:cs typeface="Geologica"/>
                <a:sym typeface="Geologica"/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logica"/>
              <a:buChar char="•"/>
              <a:defRPr>
                <a:latin typeface="Geologica"/>
                <a:ea typeface="Geologica"/>
                <a:cs typeface="Geologica"/>
                <a:sym typeface="Geologica"/>
              </a:defRPr>
            </a:lvl9pPr>
          </a:lstStyle>
          <a:p/>
        </p:txBody>
      </p:sp>
      <p:sp>
        <p:nvSpPr>
          <p:cNvPr id="101" name="Google Shape;101;p62"/>
          <p:cNvSpPr txBox="1"/>
          <p:nvPr>
            <p:ph idx="5" type="body"/>
          </p:nvPr>
        </p:nvSpPr>
        <p:spPr>
          <a:xfrm>
            <a:off x="81488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2" name="Google Shape;102;p62"/>
          <p:cNvSpPr txBox="1"/>
          <p:nvPr>
            <p:ph idx="6" type="body"/>
          </p:nvPr>
        </p:nvSpPr>
        <p:spPr>
          <a:xfrm>
            <a:off x="8148863" y="1382737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03" name="Google Shape;103;p62"/>
          <p:cNvSpPr txBox="1"/>
          <p:nvPr>
            <p:ph type="title"/>
          </p:nvPr>
        </p:nvSpPr>
        <p:spPr>
          <a:xfrm>
            <a:off x="587375" y="584200"/>
            <a:ext cx="11017249" cy="6602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"/>
              <a:buNone/>
              <a:defRPr b="0">
                <a:latin typeface="Geologica"/>
                <a:ea typeface="Geologica"/>
                <a:cs typeface="Geologica"/>
                <a:sym typeface="Geologica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"/>
              <a:buNone/>
              <a:defRPr b="0">
                <a:latin typeface="Geologica"/>
                <a:ea typeface="Geologica"/>
                <a:cs typeface="Geologica"/>
                <a:sym typeface="Geologica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"/>
              <a:buNone/>
              <a:defRPr b="0">
                <a:latin typeface="Geologica"/>
                <a:ea typeface="Geologica"/>
                <a:cs typeface="Geologica"/>
                <a:sym typeface="Geologica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"/>
              <a:buNone/>
              <a:defRPr b="0">
                <a:latin typeface="Geologica"/>
                <a:ea typeface="Geologica"/>
                <a:cs typeface="Geologica"/>
                <a:sym typeface="Geologica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"/>
              <a:buNone/>
              <a:defRPr b="0">
                <a:latin typeface="Geologica"/>
                <a:ea typeface="Geologica"/>
                <a:cs typeface="Geologica"/>
                <a:sym typeface="Geologica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"/>
              <a:buNone/>
              <a:defRPr b="0">
                <a:latin typeface="Geologica"/>
                <a:ea typeface="Geologica"/>
                <a:cs typeface="Geologica"/>
                <a:sym typeface="Geologica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"/>
              <a:buNone/>
              <a:defRPr b="0">
                <a:latin typeface="Geologica"/>
                <a:ea typeface="Geologica"/>
                <a:cs typeface="Geologica"/>
                <a:sym typeface="Geologica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"/>
              <a:buNone/>
              <a:defRPr b="0">
                <a:latin typeface="Geologica"/>
                <a:ea typeface="Geologica"/>
                <a:cs typeface="Geologica"/>
                <a:sym typeface="Geologica"/>
              </a:defRPr>
            </a:lvl9pPr>
          </a:lstStyle>
          <a:p/>
        </p:txBody>
      </p:sp>
      <p:sp>
        <p:nvSpPr>
          <p:cNvPr id="104" name="Google Shape;104;p62"/>
          <p:cNvSpPr txBox="1"/>
          <p:nvPr>
            <p:ph idx="7" type="body"/>
          </p:nvPr>
        </p:nvSpPr>
        <p:spPr>
          <a:xfrm>
            <a:off x="58601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5" name="Google Shape;105;p62"/>
          <p:cNvSpPr txBox="1"/>
          <p:nvPr>
            <p:ph idx="8" type="body"/>
          </p:nvPr>
        </p:nvSpPr>
        <p:spPr>
          <a:xfrm>
            <a:off x="586013" y="1382737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06" name="Google Shape;106;p62"/>
          <p:cNvSpPr txBox="1"/>
          <p:nvPr>
            <p:ph idx="9" type="body"/>
          </p:nvPr>
        </p:nvSpPr>
        <p:spPr>
          <a:xfrm>
            <a:off x="58601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7" name="Google Shape;107;p62"/>
          <p:cNvSpPr txBox="1"/>
          <p:nvPr>
            <p:ph idx="13" type="body"/>
          </p:nvPr>
        </p:nvSpPr>
        <p:spPr>
          <a:xfrm>
            <a:off x="586013" y="3809879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Geologica"/>
              <a:buNone/>
              <a:defRPr sz="6000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Geologica"/>
              <a:buChar char="⏤"/>
              <a:defRPr>
                <a:latin typeface="Geologica"/>
                <a:ea typeface="Geologica"/>
                <a:cs typeface="Geologica"/>
                <a:sym typeface="Geologica"/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Geologica"/>
              <a:buChar char="⏤"/>
              <a:defRPr>
                <a:latin typeface="Geologica"/>
                <a:ea typeface="Geologica"/>
                <a:cs typeface="Geologica"/>
                <a:sym typeface="Geologica"/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Geologica"/>
              <a:buChar char="⏤"/>
              <a:defRPr>
                <a:latin typeface="Geologica"/>
                <a:ea typeface="Geologica"/>
                <a:cs typeface="Geologica"/>
                <a:sym typeface="Geologica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logica"/>
              <a:buChar char="•"/>
              <a:defRPr>
                <a:latin typeface="Geologica"/>
                <a:ea typeface="Geologica"/>
                <a:cs typeface="Geologica"/>
                <a:sym typeface="Geologica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logica"/>
              <a:buChar char="•"/>
              <a:defRPr>
                <a:latin typeface="Geologica"/>
                <a:ea typeface="Geologica"/>
                <a:cs typeface="Geologica"/>
                <a:sym typeface="Geologica"/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logica"/>
              <a:buChar char="•"/>
              <a:defRPr>
                <a:latin typeface="Geologica"/>
                <a:ea typeface="Geologica"/>
                <a:cs typeface="Geologica"/>
                <a:sym typeface="Geologica"/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logica"/>
              <a:buChar char="•"/>
              <a:defRPr>
                <a:latin typeface="Geologica"/>
                <a:ea typeface="Geologica"/>
                <a:cs typeface="Geologica"/>
                <a:sym typeface="Geologica"/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logica"/>
              <a:buChar char="•"/>
              <a:defRPr>
                <a:latin typeface="Geologica"/>
                <a:ea typeface="Geologica"/>
                <a:cs typeface="Geologica"/>
                <a:sym typeface="Geologica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иконки">
  <p:cSld name="3 иконки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64"/>
          <p:cNvSpPr txBox="1"/>
          <p:nvPr>
            <p:ph idx="1" type="subTitle"/>
          </p:nvPr>
        </p:nvSpPr>
        <p:spPr>
          <a:xfrm>
            <a:off x="587375" y="4536369"/>
            <a:ext cx="2884941" cy="1628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10" name="Google Shape;110;p64"/>
          <p:cNvSpPr txBox="1"/>
          <p:nvPr>
            <p:ph idx="2" type="body"/>
          </p:nvPr>
        </p:nvSpPr>
        <p:spPr>
          <a:xfrm>
            <a:off x="4195798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11" name="Google Shape;111;p64"/>
          <p:cNvSpPr txBox="1"/>
          <p:nvPr>
            <p:ph idx="3" type="body"/>
          </p:nvPr>
        </p:nvSpPr>
        <p:spPr>
          <a:xfrm>
            <a:off x="7793104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12" name="Google Shape;112;p64"/>
          <p:cNvSpPr/>
          <p:nvPr>
            <p:ph idx="4" type="pic"/>
          </p:nvPr>
        </p:nvSpPr>
        <p:spPr>
          <a:xfrm>
            <a:off x="587375" y="3652127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13" name="Google Shape;113;p64"/>
          <p:cNvSpPr/>
          <p:nvPr>
            <p:ph idx="5" type="pic"/>
          </p:nvPr>
        </p:nvSpPr>
        <p:spPr>
          <a:xfrm>
            <a:off x="4185341" y="3652127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64"/>
          <p:cNvSpPr/>
          <p:nvPr>
            <p:ph idx="6" type="pic"/>
          </p:nvPr>
        </p:nvSpPr>
        <p:spPr>
          <a:xfrm>
            <a:off x="7770054" y="3652127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15" name="Google Shape;115;p64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иконки на слайде">
  <p:cSld name="4 иконки на слайде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65"/>
          <p:cNvSpPr txBox="1"/>
          <p:nvPr>
            <p:ph idx="1" type="body"/>
          </p:nvPr>
        </p:nvSpPr>
        <p:spPr>
          <a:xfrm>
            <a:off x="1378204" y="3089950"/>
            <a:ext cx="4006827" cy="408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i="0"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18" name="Google Shape;118;p65"/>
          <p:cNvSpPr/>
          <p:nvPr>
            <p:ph idx="2" type="pic"/>
          </p:nvPr>
        </p:nvSpPr>
        <p:spPr>
          <a:xfrm>
            <a:off x="587375" y="308995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19" name="Google Shape;119;p65"/>
          <p:cNvSpPr txBox="1"/>
          <p:nvPr>
            <p:ph idx="3" type="body"/>
          </p:nvPr>
        </p:nvSpPr>
        <p:spPr>
          <a:xfrm>
            <a:off x="1378204" y="4647081"/>
            <a:ext cx="4006827" cy="408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i="0"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20" name="Google Shape;120;p65"/>
          <p:cNvSpPr/>
          <p:nvPr>
            <p:ph idx="4" type="pic"/>
          </p:nvPr>
        </p:nvSpPr>
        <p:spPr>
          <a:xfrm>
            <a:off x="587375" y="4647081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21" name="Google Shape;121;p65"/>
          <p:cNvSpPr txBox="1"/>
          <p:nvPr>
            <p:ph idx="5" type="body"/>
          </p:nvPr>
        </p:nvSpPr>
        <p:spPr>
          <a:xfrm>
            <a:off x="1379533" y="5098643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2" name="Google Shape;122;p65"/>
          <p:cNvSpPr txBox="1"/>
          <p:nvPr>
            <p:ph idx="6" type="body"/>
          </p:nvPr>
        </p:nvSpPr>
        <p:spPr>
          <a:xfrm>
            <a:off x="7162778" y="3089950"/>
            <a:ext cx="4006827" cy="408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i="0"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23" name="Google Shape;123;p65"/>
          <p:cNvSpPr/>
          <p:nvPr>
            <p:ph idx="7" type="pic"/>
          </p:nvPr>
        </p:nvSpPr>
        <p:spPr>
          <a:xfrm>
            <a:off x="6371949" y="308995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24" name="Google Shape;124;p65"/>
          <p:cNvSpPr txBox="1"/>
          <p:nvPr>
            <p:ph idx="8" type="body"/>
          </p:nvPr>
        </p:nvSpPr>
        <p:spPr>
          <a:xfrm>
            <a:off x="7162778" y="4647081"/>
            <a:ext cx="4006827" cy="408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i="0"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25" name="Google Shape;125;p65"/>
          <p:cNvSpPr/>
          <p:nvPr>
            <p:ph idx="9" type="pic"/>
          </p:nvPr>
        </p:nvSpPr>
        <p:spPr>
          <a:xfrm>
            <a:off x="6371949" y="4647081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26" name="Google Shape;126;p65"/>
          <p:cNvSpPr txBox="1"/>
          <p:nvPr>
            <p:ph idx="13" type="body"/>
          </p:nvPr>
        </p:nvSpPr>
        <p:spPr>
          <a:xfrm>
            <a:off x="7164107" y="5098643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65"/>
          <p:cNvSpPr txBox="1"/>
          <p:nvPr>
            <p:ph idx="14" type="body"/>
          </p:nvPr>
        </p:nvSpPr>
        <p:spPr>
          <a:xfrm>
            <a:off x="7164107" y="3541015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8" name="Google Shape;128;p65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9pPr>
          </a:lstStyle>
          <a:p/>
        </p:txBody>
      </p:sp>
      <p:sp>
        <p:nvSpPr>
          <p:cNvPr id="129" name="Google Shape;129;p65"/>
          <p:cNvSpPr txBox="1"/>
          <p:nvPr>
            <p:ph idx="15" type="body"/>
          </p:nvPr>
        </p:nvSpPr>
        <p:spPr>
          <a:xfrm>
            <a:off x="1375198" y="3541015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 линейных иконок на слайде">
  <p:cSld name="6 иконок на слайде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6"/>
          <p:cNvSpPr/>
          <p:nvPr>
            <p:ph idx="2" type="pic"/>
          </p:nvPr>
        </p:nvSpPr>
        <p:spPr>
          <a:xfrm>
            <a:off x="587375" y="2904623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32" name="Google Shape;132;p66"/>
          <p:cNvSpPr/>
          <p:nvPr>
            <p:ph idx="3" type="pic"/>
          </p:nvPr>
        </p:nvSpPr>
        <p:spPr>
          <a:xfrm>
            <a:off x="587375" y="4242236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33" name="Google Shape;133;p66"/>
          <p:cNvSpPr txBox="1"/>
          <p:nvPr>
            <p:ph idx="1" type="body"/>
          </p:nvPr>
        </p:nvSpPr>
        <p:spPr>
          <a:xfrm>
            <a:off x="1379533" y="4242236"/>
            <a:ext cx="4005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34" name="Google Shape;134;p66"/>
          <p:cNvSpPr/>
          <p:nvPr>
            <p:ph idx="4" type="pic"/>
          </p:nvPr>
        </p:nvSpPr>
        <p:spPr>
          <a:xfrm>
            <a:off x="6371949" y="2904623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66"/>
          <p:cNvSpPr/>
          <p:nvPr>
            <p:ph idx="5" type="pic"/>
          </p:nvPr>
        </p:nvSpPr>
        <p:spPr>
          <a:xfrm>
            <a:off x="6371949" y="4242236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36" name="Google Shape;136;p66"/>
          <p:cNvSpPr txBox="1"/>
          <p:nvPr>
            <p:ph idx="6" type="body"/>
          </p:nvPr>
        </p:nvSpPr>
        <p:spPr>
          <a:xfrm>
            <a:off x="7164107" y="4242236"/>
            <a:ext cx="4005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37" name="Google Shape;137;p66"/>
          <p:cNvSpPr txBox="1"/>
          <p:nvPr>
            <p:ph idx="7" type="body"/>
          </p:nvPr>
        </p:nvSpPr>
        <p:spPr>
          <a:xfrm>
            <a:off x="7164107" y="2904623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38" name="Google Shape;138;p66"/>
          <p:cNvSpPr/>
          <p:nvPr>
            <p:ph idx="8" type="pic"/>
          </p:nvPr>
        </p:nvSpPr>
        <p:spPr>
          <a:xfrm>
            <a:off x="587375" y="555625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39" name="Google Shape;139;p66"/>
          <p:cNvSpPr txBox="1"/>
          <p:nvPr>
            <p:ph idx="9" type="body"/>
          </p:nvPr>
        </p:nvSpPr>
        <p:spPr>
          <a:xfrm>
            <a:off x="1379533" y="5556250"/>
            <a:ext cx="4005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40" name="Google Shape;140;p66"/>
          <p:cNvSpPr/>
          <p:nvPr>
            <p:ph idx="13" type="pic"/>
          </p:nvPr>
        </p:nvSpPr>
        <p:spPr>
          <a:xfrm>
            <a:off x="6371949" y="555625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66"/>
          <p:cNvSpPr txBox="1"/>
          <p:nvPr>
            <p:ph idx="14" type="body"/>
          </p:nvPr>
        </p:nvSpPr>
        <p:spPr>
          <a:xfrm>
            <a:off x="7164107" y="5556250"/>
            <a:ext cx="4005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42" name="Google Shape;142;p66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66"/>
          <p:cNvSpPr txBox="1"/>
          <p:nvPr>
            <p:ph idx="15" type="body"/>
          </p:nvPr>
        </p:nvSpPr>
        <p:spPr>
          <a:xfrm>
            <a:off x="1388949" y="2904623"/>
            <a:ext cx="4005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ото в маске">
  <p:cSld name="Фото навылет"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9"/>
          <p:cNvSpPr txBox="1"/>
          <p:nvPr>
            <p:ph idx="1" type="body"/>
          </p:nvPr>
        </p:nvSpPr>
        <p:spPr>
          <a:xfrm>
            <a:off x="587375" y="2528888"/>
            <a:ext cx="5941015" cy="36217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6" name="Google Shape;146;p69"/>
          <p:cNvSpPr/>
          <p:nvPr>
            <p:ph idx="2" type="pic"/>
          </p:nvPr>
        </p:nvSpPr>
        <p:spPr>
          <a:xfrm>
            <a:off x="7104624" y="0"/>
            <a:ext cx="5087375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147" name="Google Shape;147;p69"/>
          <p:cNvSpPr txBox="1"/>
          <p:nvPr>
            <p:ph type="title"/>
          </p:nvPr>
        </p:nvSpPr>
        <p:spPr>
          <a:xfrm>
            <a:off x="587375" y="584200"/>
            <a:ext cx="5941016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ото в маске">
  <p:cSld name="Фото квадратное"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99"/>
          <p:cNvSpPr txBox="1"/>
          <p:nvPr>
            <p:ph idx="1" type="body"/>
          </p:nvPr>
        </p:nvSpPr>
        <p:spPr>
          <a:xfrm>
            <a:off x="587375" y="2528888"/>
            <a:ext cx="4556997" cy="36217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0" name="Google Shape;150;p99"/>
          <p:cNvSpPr txBox="1"/>
          <p:nvPr>
            <p:ph type="title"/>
          </p:nvPr>
        </p:nvSpPr>
        <p:spPr>
          <a:xfrm>
            <a:off x="587375" y="584200"/>
            <a:ext cx="4556998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1" name="Google Shape;151;p99"/>
          <p:cNvSpPr/>
          <p:nvPr>
            <p:ph idx="2" type="pic"/>
          </p:nvPr>
        </p:nvSpPr>
        <p:spPr>
          <a:xfrm>
            <a:off x="6039748" y="584200"/>
            <a:ext cx="5564877" cy="5566433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ото в маске">
  <p:cSld name="Фото в маске_3"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00"/>
          <p:cNvSpPr txBox="1"/>
          <p:nvPr>
            <p:ph idx="1" type="body"/>
          </p:nvPr>
        </p:nvSpPr>
        <p:spPr>
          <a:xfrm>
            <a:off x="587375" y="2528888"/>
            <a:ext cx="5941015" cy="36217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4" name="Google Shape;154;p100"/>
          <p:cNvSpPr txBox="1"/>
          <p:nvPr>
            <p:ph type="title"/>
          </p:nvPr>
        </p:nvSpPr>
        <p:spPr>
          <a:xfrm>
            <a:off x="587375" y="584200"/>
            <a:ext cx="5941016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5" name="Google Shape;155;p100"/>
          <p:cNvSpPr/>
          <p:nvPr>
            <p:ph idx="2" type="pic"/>
          </p:nvPr>
        </p:nvSpPr>
        <p:spPr>
          <a:xfrm>
            <a:off x="7464056" y="584200"/>
            <a:ext cx="4140569" cy="6273800"/>
          </a:xfrm>
          <a:prstGeom prst="round2SameRect">
            <a:avLst>
              <a:gd fmla="val 50000" name="adj1"/>
              <a:gd fmla="val 0" name="adj2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фото">
  <p:cSld name="3 фото"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70"/>
          <p:cNvSpPr/>
          <p:nvPr>
            <p:ph idx="2" type="pic"/>
          </p:nvPr>
        </p:nvSpPr>
        <p:spPr>
          <a:xfrm>
            <a:off x="603401" y="592250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158" name="Google Shape;158;p70"/>
          <p:cNvSpPr/>
          <p:nvPr>
            <p:ph idx="3" type="pic"/>
          </p:nvPr>
        </p:nvSpPr>
        <p:spPr>
          <a:xfrm>
            <a:off x="4350001" y="587200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159" name="Google Shape;159;p70"/>
          <p:cNvSpPr/>
          <p:nvPr>
            <p:ph idx="4" type="pic"/>
          </p:nvPr>
        </p:nvSpPr>
        <p:spPr>
          <a:xfrm>
            <a:off x="8112626" y="587200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фото 1">
  <p:cSld name="2 фото_1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84d08330cf_0_11"/>
          <p:cNvSpPr/>
          <p:nvPr>
            <p:ph idx="2" type="pic"/>
          </p:nvPr>
        </p:nvSpPr>
        <p:spPr>
          <a:xfrm>
            <a:off x="603401" y="587376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162" name="Google Shape;162;g284d08330cf_0_11"/>
          <p:cNvSpPr/>
          <p:nvPr>
            <p:ph idx="3" type="pic"/>
          </p:nvPr>
        </p:nvSpPr>
        <p:spPr>
          <a:xfrm>
            <a:off x="4349750" y="587376"/>
            <a:ext cx="7238849" cy="5573700"/>
          </a:xfrm>
          <a:prstGeom prst="roundRect">
            <a:avLst>
              <a:gd fmla="val 10591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ото на весь слайд">
  <p:cSld name="Фото на весь слайд"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71"/>
          <p:cNvSpPr/>
          <p:nvPr>
            <p:ph idx="2" type="pic"/>
          </p:nvPr>
        </p:nvSpPr>
        <p:spPr>
          <a:xfrm>
            <a:off x="0" y="0"/>
            <a:ext cx="12191999" cy="6857999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карточки факта">
  <p:cSld name="3 карточки факта"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86800" y="2318037"/>
            <a:ext cx="11016000" cy="3847378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72"/>
          <p:cNvSpPr txBox="1"/>
          <p:nvPr>
            <p:ph idx="1" type="body"/>
          </p:nvPr>
        </p:nvSpPr>
        <p:spPr>
          <a:xfrm>
            <a:off x="879482" y="2533491"/>
            <a:ext cx="648208" cy="714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68" name="Google Shape;168;p72"/>
          <p:cNvSpPr txBox="1"/>
          <p:nvPr>
            <p:ph idx="2" type="body"/>
          </p:nvPr>
        </p:nvSpPr>
        <p:spPr>
          <a:xfrm>
            <a:off x="4645159" y="2533491"/>
            <a:ext cx="648208" cy="714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69" name="Google Shape;169;p72"/>
          <p:cNvSpPr txBox="1"/>
          <p:nvPr>
            <p:ph idx="3" type="body"/>
          </p:nvPr>
        </p:nvSpPr>
        <p:spPr>
          <a:xfrm>
            <a:off x="8399240" y="2530940"/>
            <a:ext cx="648208" cy="714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70" name="Google Shape;170;p72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1" name="Google Shape;171;p72"/>
          <p:cNvSpPr txBox="1"/>
          <p:nvPr>
            <p:ph idx="4" type="subTitle"/>
          </p:nvPr>
        </p:nvSpPr>
        <p:spPr>
          <a:xfrm>
            <a:off x="879482" y="4218550"/>
            <a:ext cx="2893472" cy="16351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72" name="Google Shape;172;p72"/>
          <p:cNvSpPr txBox="1"/>
          <p:nvPr>
            <p:ph idx="5" type="body"/>
          </p:nvPr>
        </p:nvSpPr>
        <p:spPr>
          <a:xfrm>
            <a:off x="4649508" y="4217010"/>
            <a:ext cx="2868059" cy="1636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73" name="Google Shape;173;p72"/>
          <p:cNvSpPr txBox="1"/>
          <p:nvPr>
            <p:ph idx="6" type="body"/>
          </p:nvPr>
        </p:nvSpPr>
        <p:spPr>
          <a:xfrm>
            <a:off x="8419534" y="4217010"/>
            <a:ext cx="2868059" cy="1636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74" name="Google Shape;174;p72"/>
          <p:cNvSpPr txBox="1"/>
          <p:nvPr>
            <p:ph idx="7" type="body"/>
          </p:nvPr>
        </p:nvSpPr>
        <p:spPr>
          <a:xfrm>
            <a:off x="879482" y="3406533"/>
            <a:ext cx="2868059" cy="6464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9pPr>
          </a:lstStyle>
          <a:p/>
        </p:txBody>
      </p:sp>
      <p:sp>
        <p:nvSpPr>
          <p:cNvPr id="175" name="Google Shape;175;p72"/>
          <p:cNvSpPr txBox="1"/>
          <p:nvPr>
            <p:ph idx="8" type="body"/>
          </p:nvPr>
        </p:nvSpPr>
        <p:spPr>
          <a:xfrm>
            <a:off x="4649509" y="3406533"/>
            <a:ext cx="2868059" cy="6464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9pPr>
          </a:lstStyle>
          <a:p/>
        </p:txBody>
      </p:sp>
      <p:sp>
        <p:nvSpPr>
          <p:cNvPr id="176" name="Google Shape;176;p72"/>
          <p:cNvSpPr txBox="1"/>
          <p:nvPr>
            <p:ph idx="9" type="body"/>
          </p:nvPr>
        </p:nvSpPr>
        <p:spPr>
          <a:xfrm>
            <a:off x="8419535" y="3406533"/>
            <a:ext cx="2868059" cy="6464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карточки факта">
  <p:cSld name="4 карточки факта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86800" y="2318037"/>
            <a:ext cx="11016000" cy="3849297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73"/>
          <p:cNvSpPr txBox="1"/>
          <p:nvPr>
            <p:ph idx="1" type="body"/>
          </p:nvPr>
        </p:nvSpPr>
        <p:spPr>
          <a:xfrm>
            <a:off x="917625" y="2528888"/>
            <a:ext cx="648208" cy="7878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80" name="Google Shape;180;p73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1" name="Google Shape;181;p73"/>
          <p:cNvSpPr txBox="1"/>
          <p:nvPr>
            <p:ph idx="2" type="body"/>
          </p:nvPr>
        </p:nvSpPr>
        <p:spPr>
          <a:xfrm>
            <a:off x="917625" y="4605025"/>
            <a:ext cx="648208" cy="7878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82" name="Google Shape;182;p73"/>
          <p:cNvSpPr txBox="1"/>
          <p:nvPr>
            <p:ph idx="3" type="body"/>
          </p:nvPr>
        </p:nvSpPr>
        <p:spPr>
          <a:xfrm>
            <a:off x="6574122" y="4605025"/>
            <a:ext cx="648208" cy="7878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83" name="Google Shape;183;p73"/>
          <p:cNvSpPr txBox="1"/>
          <p:nvPr>
            <p:ph idx="4" type="subTitle"/>
          </p:nvPr>
        </p:nvSpPr>
        <p:spPr>
          <a:xfrm>
            <a:off x="1716374" y="2528888"/>
            <a:ext cx="3851999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4" name="Google Shape;184;p73"/>
          <p:cNvSpPr txBox="1"/>
          <p:nvPr>
            <p:ph idx="5" type="body"/>
          </p:nvPr>
        </p:nvSpPr>
        <p:spPr>
          <a:xfrm>
            <a:off x="6574122" y="2528888"/>
            <a:ext cx="648208" cy="7878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85" name="Google Shape;185;p73"/>
          <p:cNvSpPr txBox="1"/>
          <p:nvPr/>
        </p:nvSpPr>
        <p:spPr>
          <a:xfrm>
            <a:off x="7427625" y="2528888"/>
            <a:ext cx="3840517" cy="10661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eologica Light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6" name="Google Shape;186;p73"/>
          <p:cNvSpPr txBox="1"/>
          <p:nvPr>
            <p:ph idx="6" type="body"/>
          </p:nvPr>
        </p:nvSpPr>
        <p:spPr>
          <a:xfrm>
            <a:off x="7360170" y="2536669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7" name="Google Shape;187;p73"/>
          <p:cNvSpPr txBox="1"/>
          <p:nvPr>
            <p:ph idx="7" type="body"/>
          </p:nvPr>
        </p:nvSpPr>
        <p:spPr>
          <a:xfrm>
            <a:off x="7360170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8" name="Google Shape;188;p73"/>
          <p:cNvSpPr txBox="1"/>
          <p:nvPr>
            <p:ph idx="8" type="body"/>
          </p:nvPr>
        </p:nvSpPr>
        <p:spPr>
          <a:xfrm>
            <a:off x="1716374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карточки иконки">
  <p:cSld name="2 карточки иконки"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0;g284d08330cf_0_1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86800" y="2318400"/>
            <a:ext cx="11017200" cy="3847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g284d08330cf_0_140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2" name="Google Shape;192;g284d08330cf_0_140"/>
          <p:cNvSpPr txBox="1"/>
          <p:nvPr>
            <p:ph idx="1" type="subTitle"/>
          </p:nvPr>
        </p:nvSpPr>
        <p:spPr>
          <a:xfrm>
            <a:off x="1665318" y="2537225"/>
            <a:ext cx="3534300" cy="3249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93" name="Google Shape;193;g284d08330cf_0_140"/>
          <p:cNvSpPr txBox="1"/>
          <p:nvPr>
            <p:ph idx="2" type="body"/>
          </p:nvPr>
        </p:nvSpPr>
        <p:spPr>
          <a:xfrm>
            <a:off x="7299951" y="2536669"/>
            <a:ext cx="3567000" cy="3249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4" name="Google Shape;194;g284d08330cf_0_140"/>
          <p:cNvSpPr/>
          <p:nvPr>
            <p:ph idx="3" type="pic"/>
          </p:nvPr>
        </p:nvSpPr>
        <p:spPr>
          <a:xfrm>
            <a:off x="892225" y="2537225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95" name="Google Shape;195;g284d08330cf_0_140"/>
          <p:cNvSpPr/>
          <p:nvPr>
            <p:ph idx="4" type="pic"/>
          </p:nvPr>
        </p:nvSpPr>
        <p:spPr>
          <a:xfrm>
            <a:off x="6526844" y="2536669"/>
            <a:ext cx="540000" cy="540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карточки иконки">
  <p:cSld name="3 карточки иконки"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87374" y="2318400"/>
            <a:ext cx="11017249" cy="3847814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4"/>
          <p:cNvSpPr/>
          <p:nvPr>
            <p:ph idx="2" type="pic"/>
          </p:nvPr>
        </p:nvSpPr>
        <p:spPr>
          <a:xfrm>
            <a:off x="879482" y="254793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99" name="Google Shape;199;p74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0" name="Google Shape;200;p74"/>
          <p:cNvSpPr/>
          <p:nvPr>
            <p:ph idx="3" type="pic"/>
          </p:nvPr>
        </p:nvSpPr>
        <p:spPr>
          <a:xfrm>
            <a:off x="4649509" y="254793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01" name="Google Shape;201;p74"/>
          <p:cNvSpPr/>
          <p:nvPr>
            <p:ph idx="4" type="pic"/>
          </p:nvPr>
        </p:nvSpPr>
        <p:spPr>
          <a:xfrm>
            <a:off x="8419535" y="254793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02" name="Google Shape;202;p74"/>
          <p:cNvSpPr txBox="1"/>
          <p:nvPr>
            <p:ph idx="1" type="subTitle"/>
          </p:nvPr>
        </p:nvSpPr>
        <p:spPr>
          <a:xfrm>
            <a:off x="879482" y="4061618"/>
            <a:ext cx="2893472" cy="17921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03" name="Google Shape;203;p74"/>
          <p:cNvSpPr txBox="1"/>
          <p:nvPr>
            <p:ph idx="5" type="body"/>
          </p:nvPr>
        </p:nvSpPr>
        <p:spPr>
          <a:xfrm>
            <a:off x="4649508" y="4059936"/>
            <a:ext cx="2868059" cy="17937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04" name="Google Shape;204;p74"/>
          <p:cNvSpPr txBox="1"/>
          <p:nvPr>
            <p:ph idx="6" type="body"/>
          </p:nvPr>
        </p:nvSpPr>
        <p:spPr>
          <a:xfrm>
            <a:off x="8419534" y="4059936"/>
            <a:ext cx="2868059" cy="17937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05" name="Google Shape;205;p74"/>
          <p:cNvSpPr txBox="1"/>
          <p:nvPr>
            <p:ph idx="7" type="body"/>
          </p:nvPr>
        </p:nvSpPr>
        <p:spPr>
          <a:xfrm>
            <a:off x="879482" y="3333381"/>
            <a:ext cx="2868059" cy="4876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9pPr>
          </a:lstStyle>
          <a:p/>
        </p:txBody>
      </p:sp>
      <p:sp>
        <p:nvSpPr>
          <p:cNvPr id="206" name="Google Shape;206;p74"/>
          <p:cNvSpPr txBox="1"/>
          <p:nvPr>
            <p:ph idx="8" type="body"/>
          </p:nvPr>
        </p:nvSpPr>
        <p:spPr>
          <a:xfrm>
            <a:off x="4649509" y="3333381"/>
            <a:ext cx="2868059" cy="4876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9pPr>
          </a:lstStyle>
          <a:p/>
        </p:txBody>
      </p:sp>
      <p:sp>
        <p:nvSpPr>
          <p:cNvPr id="207" name="Google Shape;207;p74"/>
          <p:cNvSpPr txBox="1"/>
          <p:nvPr>
            <p:ph idx="9" type="body"/>
          </p:nvPr>
        </p:nvSpPr>
        <p:spPr>
          <a:xfrm>
            <a:off x="8419535" y="3333381"/>
            <a:ext cx="2868059" cy="4876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b="1"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b="1" sz="1600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карточки иконки 1">
  <p:cSld name="4 карточки с иконками"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g284d08330cf_0_16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86800" y="2318400"/>
            <a:ext cx="11016000" cy="38484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g284d08330cf_0_162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1" name="Google Shape;211;g284d08330cf_0_162"/>
          <p:cNvSpPr txBox="1"/>
          <p:nvPr>
            <p:ph idx="1" type="subTitle"/>
          </p:nvPr>
        </p:nvSpPr>
        <p:spPr>
          <a:xfrm>
            <a:off x="1753849" y="2528888"/>
            <a:ext cx="3851999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12" name="Google Shape;212;g284d08330cf_0_162"/>
          <p:cNvSpPr txBox="1"/>
          <p:nvPr>
            <p:ph idx="2" type="body"/>
          </p:nvPr>
        </p:nvSpPr>
        <p:spPr>
          <a:xfrm>
            <a:off x="7397645" y="2536669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13" name="Google Shape;213;g284d08330cf_0_162"/>
          <p:cNvSpPr txBox="1"/>
          <p:nvPr>
            <p:ph idx="3" type="body"/>
          </p:nvPr>
        </p:nvSpPr>
        <p:spPr>
          <a:xfrm>
            <a:off x="7397645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14" name="Google Shape;214;g284d08330cf_0_162"/>
          <p:cNvSpPr txBox="1"/>
          <p:nvPr>
            <p:ph idx="4" type="body"/>
          </p:nvPr>
        </p:nvSpPr>
        <p:spPr>
          <a:xfrm>
            <a:off x="1753849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15" name="Google Shape;215;g284d08330cf_0_162"/>
          <p:cNvSpPr/>
          <p:nvPr>
            <p:ph idx="5" type="pic"/>
          </p:nvPr>
        </p:nvSpPr>
        <p:spPr>
          <a:xfrm>
            <a:off x="879482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16" name="Google Shape;216;g284d08330cf_0_162"/>
          <p:cNvSpPr/>
          <p:nvPr>
            <p:ph idx="6" type="pic"/>
          </p:nvPr>
        </p:nvSpPr>
        <p:spPr>
          <a:xfrm>
            <a:off x="879482" y="458254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17" name="Google Shape;217;g284d08330cf_0_162"/>
          <p:cNvSpPr/>
          <p:nvPr>
            <p:ph idx="7" type="pic"/>
          </p:nvPr>
        </p:nvSpPr>
        <p:spPr>
          <a:xfrm>
            <a:off x="6523279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18" name="Google Shape;218;g284d08330cf_0_162"/>
          <p:cNvSpPr/>
          <p:nvPr>
            <p:ph idx="8" type="pic"/>
          </p:nvPr>
        </p:nvSpPr>
        <p:spPr>
          <a:xfrm>
            <a:off x="6523279" y="4590035"/>
            <a:ext cx="540000" cy="540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 карточек">
  <p:cSld name="5 карточек с иконками"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86800" y="2318400"/>
            <a:ext cx="11017763" cy="3848400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75"/>
          <p:cNvSpPr txBox="1"/>
          <p:nvPr>
            <p:ph type="title"/>
          </p:nvPr>
        </p:nvSpPr>
        <p:spPr>
          <a:xfrm>
            <a:off x="587375" y="584200"/>
            <a:ext cx="11017249" cy="63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2" name="Google Shape;222;p75"/>
          <p:cNvSpPr txBox="1"/>
          <p:nvPr>
            <p:ph idx="1" type="body"/>
          </p:nvPr>
        </p:nvSpPr>
        <p:spPr>
          <a:xfrm>
            <a:off x="879481" y="5310750"/>
            <a:ext cx="2827200" cy="578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23" name="Google Shape;223;p75"/>
          <p:cNvSpPr txBox="1"/>
          <p:nvPr>
            <p:ph idx="2" type="body"/>
          </p:nvPr>
        </p:nvSpPr>
        <p:spPr>
          <a:xfrm>
            <a:off x="8329593" y="5310750"/>
            <a:ext cx="2844000" cy="578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24" name="Google Shape;224;p75"/>
          <p:cNvSpPr txBox="1"/>
          <p:nvPr>
            <p:ph idx="3" type="body"/>
          </p:nvPr>
        </p:nvSpPr>
        <p:spPr>
          <a:xfrm>
            <a:off x="4612033" y="3270225"/>
            <a:ext cx="2844000" cy="26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25" name="Google Shape;225;p75"/>
          <p:cNvSpPr txBox="1"/>
          <p:nvPr>
            <p:ph idx="4" type="body"/>
          </p:nvPr>
        </p:nvSpPr>
        <p:spPr>
          <a:xfrm>
            <a:off x="8329592" y="3270225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26" name="Google Shape;226;p75"/>
          <p:cNvSpPr/>
          <p:nvPr>
            <p:ph idx="5" type="pic"/>
          </p:nvPr>
        </p:nvSpPr>
        <p:spPr>
          <a:xfrm>
            <a:off x="879482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27" name="Google Shape;227;p75"/>
          <p:cNvSpPr/>
          <p:nvPr>
            <p:ph idx="6" type="pic"/>
          </p:nvPr>
        </p:nvSpPr>
        <p:spPr>
          <a:xfrm>
            <a:off x="879482" y="459753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28" name="Google Shape;228;p75"/>
          <p:cNvSpPr/>
          <p:nvPr>
            <p:ph idx="7" type="pic"/>
          </p:nvPr>
        </p:nvSpPr>
        <p:spPr>
          <a:xfrm>
            <a:off x="4612033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29" name="Google Shape;229;p75"/>
          <p:cNvSpPr/>
          <p:nvPr>
            <p:ph idx="8" type="pic"/>
          </p:nvPr>
        </p:nvSpPr>
        <p:spPr>
          <a:xfrm>
            <a:off x="8329594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30" name="Google Shape;230;p75"/>
          <p:cNvSpPr/>
          <p:nvPr>
            <p:ph idx="9" type="pic"/>
          </p:nvPr>
        </p:nvSpPr>
        <p:spPr>
          <a:xfrm>
            <a:off x="8329594" y="459753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5"/>
          <p:cNvSpPr txBox="1"/>
          <p:nvPr>
            <p:ph idx="13" type="body"/>
          </p:nvPr>
        </p:nvSpPr>
        <p:spPr>
          <a:xfrm>
            <a:off x="879481" y="3261944"/>
            <a:ext cx="2827200" cy="578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 карточек 1">
  <p:cSld name="6 карточек с иконками"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Google Shape;233;g284d08330cf_0_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86800" y="2318038"/>
            <a:ext cx="11016000" cy="3847871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g284d08330cf_0_50"/>
          <p:cNvSpPr txBox="1"/>
          <p:nvPr>
            <p:ph type="title"/>
          </p:nvPr>
        </p:nvSpPr>
        <p:spPr>
          <a:xfrm>
            <a:off x="587375" y="584200"/>
            <a:ext cx="11017200" cy="6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latin typeface="Geologica Medium"/>
                <a:ea typeface="Geologica Medium"/>
                <a:cs typeface="Geologica Medium"/>
                <a:sym typeface="Geologica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9pPr>
          </a:lstStyle>
          <a:p/>
        </p:txBody>
      </p:sp>
      <p:sp>
        <p:nvSpPr>
          <p:cNvPr id="235" name="Google Shape;235;g284d08330cf_0_50"/>
          <p:cNvSpPr/>
          <p:nvPr>
            <p:ph idx="2" type="pic"/>
          </p:nvPr>
        </p:nvSpPr>
        <p:spPr>
          <a:xfrm>
            <a:off x="879482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g284d08330cf_0_50"/>
          <p:cNvSpPr/>
          <p:nvPr>
            <p:ph idx="3" type="pic"/>
          </p:nvPr>
        </p:nvSpPr>
        <p:spPr>
          <a:xfrm>
            <a:off x="4612033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37" name="Google Shape;237;g284d08330cf_0_50"/>
          <p:cNvSpPr/>
          <p:nvPr>
            <p:ph idx="4" type="pic"/>
          </p:nvPr>
        </p:nvSpPr>
        <p:spPr>
          <a:xfrm>
            <a:off x="8329594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38" name="Google Shape;238;g284d08330cf_0_50"/>
          <p:cNvSpPr txBox="1"/>
          <p:nvPr>
            <p:ph idx="1" type="body"/>
          </p:nvPr>
        </p:nvSpPr>
        <p:spPr>
          <a:xfrm>
            <a:off x="8329592" y="3270225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Geologica Light"/>
                <a:ea typeface="Geologica Light"/>
                <a:cs typeface="Geologica Light"/>
                <a:sym typeface="Geologica Light"/>
              </a:defRPr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9" name="Google Shape;239;g284d08330cf_0_50"/>
          <p:cNvSpPr txBox="1"/>
          <p:nvPr>
            <p:ph idx="5" type="body"/>
          </p:nvPr>
        </p:nvSpPr>
        <p:spPr>
          <a:xfrm>
            <a:off x="4612031" y="3270225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Geologica Light"/>
                <a:ea typeface="Geologica Light"/>
                <a:cs typeface="Geologica Light"/>
                <a:sym typeface="Geologica Light"/>
              </a:defRPr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0" name="Google Shape;240;g284d08330cf_0_50"/>
          <p:cNvSpPr/>
          <p:nvPr>
            <p:ph idx="6" type="pic"/>
          </p:nvPr>
        </p:nvSpPr>
        <p:spPr>
          <a:xfrm>
            <a:off x="879482" y="4597531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41" name="Google Shape;241;g284d08330cf_0_50"/>
          <p:cNvSpPr/>
          <p:nvPr>
            <p:ph idx="7" type="pic"/>
          </p:nvPr>
        </p:nvSpPr>
        <p:spPr>
          <a:xfrm>
            <a:off x="4612033" y="4597531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42" name="Google Shape;242;g284d08330cf_0_50"/>
          <p:cNvSpPr/>
          <p:nvPr>
            <p:ph idx="8" type="pic"/>
          </p:nvPr>
        </p:nvSpPr>
        <p:spPr>
          <a:xfrm>
            <a:off x="8329594" y="4597531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43" name="Google Shape;243;g284d08330cf_0_50"/>
          <p:cNvSpPr txBox="1"/>
          <p:nvPr>
            <p:ph idx="9" type="body"/>
          </p:nvPr>
        </p:nvSpPr>
        <p:spPr>
          <a:xfrm>
            <a:off x="8329592" y="5311436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Geologica Light"/>
                <a:ea typeface="Geologica Light"/>
                <a:cs typeface="Geologica Light"/>
                <a:sym typeface="Geologica Light"/>
              </a:defRPr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4" name="Google Shape;244;g284d08330cf_0_50"/>
          <p:cNvSpPr txBox="1"/>
          <p:nvPr>
            <p:ph idx="13" type="body"/>
          </p:nvPr>
        </p:nvSpPr>
        <p:spPr>
          <a:xfrm>
            <a:off x="879480" y="5311436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Geologica Light"/>
                <a:ea typeface="Geologica Light"/>
                <a:cs typeface="Geologica Light"/>
                <a:sym typeface="Geologica Light"/>
              </a:defRPr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5" name="Google Shape;245;g284d08330cf_0_50"/>
          <p:cNvSpPr txBox="1"/>
          <p:nvPr>
            <p:ph idx="14" type="body"/>
          </p:nvPr>
        </p:nvSpPr>
        <p:spPr>
          <a:xfrm>
            <a:off x="4612031" y="5311436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Geologica Light"/>
                <a:ea typeface="Geologica Light"/>
                <a:cs typeface="Geologica Light"/>
                <a:sym typeface="Geologica Light"/>
              </a:defRPr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6" name="Google Shape;246;g284d08330cf_0_50"/>
          <p:cNvSpPr txBox="1"/>
          <p:nvPr>
            <p:ph idx="15" type="body"/>
          </p:nvPr>
        </p:nvSpPr>
        <p:spPr>
          <a:xfrm>
            <a:off x="879481" y="3261944"/>
            <a:ext cx="2827200" cy="578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Geologica Light"/>
                <a:ea typeface="Geologica Light"/>
                <a:cs typeface="Geologica Light"/>
                <a:sym typeface="Geologica Light"/>
              </a:defRPr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лайд qr">
  <p:cSld name="Финальный слайд_1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870f9e6fac_0_71"/>
          <p:cNvSpPr/>
          <p:nvPr/>
        </p:nvSpPr>
        <p:spPr>
          <a:xfrm>
            <a:off x="7997251" y="586452"/>
            <a:ext cx="3600000" cy="3600000"/>
          </a:xfrm>
          <a:prstGeom prst="roundRect">
            <a:avLst>
              <a:gd fmla="val 8397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9" name="Google Shape;249;g2870f9e6fac_0_71"/>
          <p:cNvSpPr txBox="1"/>
          <p:nvPr>
            <p:ph idx="1" type="body"/>
          </p:nvPr>
        </p:nvSpPr>
        <p:spPr>
          <a:xfrm>
            <a:off x="587375" y="4171415"/>
            <a:ext cx="6531000" cy="34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0" name="Google Shape;250;g2870f9e6fac_0_71"/>
          <p:cNvSpPr txBox="1"/>
          <p:nvPr>
            <p:ph type="title"/>
          </p:nvPr>
        </p:nvSpPr>
        <p:spPr>
          <a:xfrm>
            <a:off x="587376" y="586452"/>
            <a:ext cx="6531000" cy="28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/>
        </p:txBody>
      </p:sp>
      <p:pic>
        <p:nvPicPr>
          <p:cNvPr id="251" name="Google Shape;251;g2870f9e6fac_0_7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60871" y="5935162"/>
            <a:ext cx="1130917" cy="299762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g2870f9e6fac_0_71"/>
          <p:cNvSpPr txBox="1"/>
          <p:nvPr>
            <p:ph idx="2" type="body"/>
          </p:nvPr>
        </p:nvSpPr>
        <p:spPr>
          <a:xfrm>
            <a:off x="8183217" y="5870781"/>
            <a:ext cx="34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3" name="Google Shape;253;g2870f9e6fac_0_71"/>
          <p:cNvSpPr/>
          <p:nvPr>
            <p:ph idx="3" type="pic"/>
          </p:nvPr>
        </p:nvSpPr>
        <p:spPr>
          <a:xfrm>
            <a:off x="8192551" y="781752"/>
            <a:ext cx="3209400" cy="320940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</p:sp>
      <p:sp>
        <p:nvSpPr>
          <p:cNvPr id="254" name="Google Shape;254;g2870f9e6fac_0_71"/>
          <p:cNvSpPr txBox="1"/>
          <p:nvPr>
            <p:ph idx="4" type="body"/>
          </p:nvPr>
        </p:nvSpPr>
        <p:spPr>
          <a:xfrm>
            <a:off x="594748" y="4598572"/>
            <a:ext cx="6523627" cy="6757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55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⏤"/>
              <a:defRPr sz="2000"/>
            </a:lvl2pPr>
            <a:lvl3pPr indent="-355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⏤"/>
              <a:defRPr/>
            </a:lvl3pPr>
            <a:lvl4pPr indent="-355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⏤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+скриншот">
  <p:cSld name="Заголовок+скриншот"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81"/>
          <p:cNvSpPr/>
          <p:nvPr>
            <p:ph idx="2" type="pic"/>
          </p:nvPr>
        </p:nvSpPr>
        <p:spPr>
          <a:xfrm>
            <a:off x="587375" y="2020957"/>
            <a:ext cx="11017251" cy="4144893"/>
          </a:xfrm>
          <a:prstGeom prst="rect">
            <a:avLst/>
          </a:prstGeom>
          <a:noFill/>
          <a:ln>
            <a:noFill/>
          </a:ln>
        </p:spPr>
      </p:sp>
      <p:sp>
        <p:nvSpPr>
          <p:cNvPr id="257" name="Google Shape;257;p81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Разноформатные скрины">
  <p:cSld name="Разноформатные скрины"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01"/>
          <p:cNvSpPr/>
          <p:nvPr>
            <p:ph idx="2" type="pic"/>
          </p:nvPr>
        </p:nvSpPr>
        <p:spPr>
          <a:xfrm>
            <a:off x="7004304" y="584200"/>
            <a:ext cx="4600320" cy="5581650"/>
          </a:xfrm>
          <a:prstGeom prst="roundRect">
            <a:avLst>
              <a:gd fmla="val 3731" name="adj"/>
            </a:avLst>
          </a:prstGeom>
          <a:solidFill>
            <a:schemeClr val="lt1"/>
          </a:solidFill>
          <a:ln cap="flat" cmpd="sng" w="19050">
            <a:solidFill>
              <a:schemeClr val="dk1">
                <a:alpha val="20000"/>
              </a:schemeClr>
            </a:solidFill>
            <a:prstDash val="solid"/>
            <a:round/>
            <a:headEnd len="sm" w="sm" type="none"/>
            <a:tailEnd len="sm" w="sm" type="none"/>
          </a:ln>
          <a:effectLst>
            <a:outerShdw blurRad="317500" rotWithShape="0" algn="ctr" dir="5400000" dist="63500">
              <a:srgbClr val="595959">
                <a:alpha val="20000"/>
              </a:srgbClr>
            </a:outerShdw>
          </a:effectLst>
        </p:spPr>
      </p:sp>
      <p:sp>
        <p:nvSpPr>
          <p:cNvPr id="260" name="Google Shape;260;p101"/>
          <p:cNvSpPr/>
          <p:nvPr>
            <p:ph idx="3" type="pic"/>
          </p:nvPr>
        </p:nvSpPr>
        <p:spPr>
          <a:xfrm>
            <a:off x="587374" y="584200"/>
            <a:ext cx="6069458" cy="3603752"/>
          </a:xfrm>
          <a:prstGeom prst="roundRect">
            <a:avLst>
              <a:gd fmla="val 5374" name="adj"/>
            </a:avLst>
          </a:prstGeom>
          <a:solidFill>
            <a:schemeClr val="lt1"/>
          </a:solidFill>
          <a:ln cap="flat" cmpd="sng" w="19050">
            <a:solidFill>
              <a:schemeClr val="dk1">
                <a:alpha val="20000"/>
              </a:schemeClr>
            </a:solidFill>
            <a:prstDash val="solid"/>
            <a:round/>
            <a:headEnd len="sm" w="sm" type="none"/>
            <a:tailEnd len="sm" w="sm" type="none"/>
          </a:ln>
          <a:effectLst>
            <a:outerShdw blurRad="317500" rotWithShape="0" algn="ctr" dir="5400000" dist="63500">
              <a:srgbClr val="595959">
                <a:alpha val="20000"/>
              </a:srgbClr>
            </a:outerShdw>
          </a:effectLst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тезиса на слайде">
  <p:cSld name="2 тезиса на слайде"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54"/>
          <p:cNvSpPr txBox="1"/>
          <p:nvPr>
            <p:ph idx="1" type="body"/>
          </p:nvPr>
        </p:nvSpPr>
        <p:spPr>
          <a:xfrm>
            <a:off x="587375" y="1115711"/>
            <a:ext cx="6943247" cy="1588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3" name="Google Shape;263;p54"/>
          <p:cNvSpPr txBox="1"/>
          <p:nvPr>
            <p:ph idx="2" type="body"/>
          </p:nvPr>
        </p:nvSpPr>
        <p:spPr>
          <a:xfrm>
            <a:off x="4663429" y="3429000"/>
            <a:ext cx="6943247" cy="1588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фактов">
  <p:cSld name="4 факта"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61"/>
          <p:cNvSpPr txBox="1"/>
          <p:nvPr>
            <p:ph idx="1" type="subTitle"/>
          </p:nvPr>
        </p:nvSpPr>
        <p:spPr>
          <a:xfrm>
            <a:off x="600231" y="4328998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66" name="Google Shape;266;p61"/>
          <p:cNvSpPr txBox="1"/>
          <p:nvPr>
            <p:ph idx="2" type="body"/>
          </p:nvPr>
        </p:nvSpPr>
        <p:spPr>
          <a:xfrm>
            <a:off x="4362301" y="3533709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7" name="Google Shape;267;p61"/>
          <p:cNvSpPr txBox="1"/>
          <p:nvPr>
            <p:ph idx="3" type="body"/>
          </p:nvPr>
        </p:nvSpPr>
        <p:spPr>
          <a:xfrm>
            <a:off x="81488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8" name="Google Shape;268;p61"/>
          <p:cNvSpPr txBox="1"/>
          <p:nvPr>
            <p:ph idx="4" type="body"/>
          </p:nvPr>
        </p:nvSpPr>
        <p:spPr>
          <a:xfrm>
            <a:off x="600231" y="3358933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269" name="Google Shape;269;p61"/>
          <p:cNvSpPr txBox="1"/>
          <p:nvPr>
            <p:ph idx="5" type="body"/>
          </p:nvPr>
        </p:nvSpPr>
        <p:spPr>
          <a:xfrm>
            <a:off x="4362302" y="2550355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270" name="Google Shape;270;p61"/>
          <p:cNvSpPr txBox="1"/>
          <p:nvPr>
            <p:ph idx="6" type="body"/>
          </p:nvPr>
        </p:nvSpPr>
        <p:spPr>
          <a:xfrm>
            <a:off x="8148863" y="3809879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271" name="Google Shape;271;p61"/>
          <p:cNvSpPr txBox="1"/>
          <p:nvPr>
            <p:ph idx="7" type="body"/>
          </p:nvPr>
        </p:nvSpPr>
        <p:spPr>
          <a:xfrm>
            <a:off x="81488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2" name="Google Shape;272;p61"/>
          <p:cNvSpPr txBox="1"/>
          <p:nvPr>
            <p:ph idx="8" type="body"/>
          </p:nvPr>
        </p:nvSpPr>
        <p:spPr>
          <a:xfrm>
            <a:off x="8148863" y="1382737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273" name="Google Shape;273;p61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 фото вертик">
  <p:cSld name="1_ фото вертик"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68"/>
          <p:cNvSpPr txBox="1"/>
          <p:nvPr>
            <p:ph idx="1" type="body"/>
          </p:nvPr>
        </p:nvSpPr>
        <p:spPr>
          <a:xfrm>
            <a:off x="587376" y="2528888"/>
            <a:ext cx="7127874" cy="36217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55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⏤"/>
              <a:defRPr sz="2000"/>
            </a:lvl2pPr>
            <a:lvl3pPr indent="-355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⏤"/>
              <a:defRPr/>
            </a:lvl3pPr>
            <a:lvl4pPr indent="-355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⏤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276" name="Google Shape;276;p68"/>
          <p:cNvSpPr txBox="1"/>
          <p:nvPr>
            <p:ph type="title"/>
          </p:nvPr>
        </p:nvSpPr>
        <p:spPr>
          <a:xfrm>
            <a:off x="587376" y="584200"/>
            <a:ext cx="7127874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9pPr>
          </a:lstStyle>
          <a:p/>
        </p:txBody>
      </p:sp>
      <p:sp>
        <p:nvSpPr>
          <p:cNvPr id="277" name="Google Shape;277;p68"/>
          <p:cNvSpPr/>
          <p:nvPr>
            <p:ph idx="2" type="pic"/>
          </p:nvPr>
        </p:nvSpPr>
        <p:spPr>
          <a:xfrm>
            <a:off x="8112626" y="587200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фото 1 1">
  <p:cSld name="2 фото_2"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284d08330cf_0_20"/>
          <p:cNvSpPr/>
          <p:nvPr>
            <p:ph idx="2" type="pic"/>
          </p:nvPr>
        </p:nvSpPr>
        <p:spPr>
          <a:xfrm>
            <a:off x="8112626" y="587200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280" name="Google Shape;280;g284d08330cf_0_20"/>
          <p:cNvSpPr/>
          <p:nvPr>
            <p:ph idx="3" type="pic"/>
          </p:nvPr>
        </p:nvSpPr>
        <p:spPr>
          <a:xfrm>
            <a:off x="587375" y="587376"/>
            <a:ext cx="723884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текст в 3 колонки">
  <p:cSld name="Заголовок + текст в 3 колонки"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83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9pPr>
          </a:lstStyle>
          <a:p/>
        </p:txBody>
      </p:sp>
      <p:sp>
        <p:nvSpPr>
          <p:cNvPr id="283" name="Google Shape;283;p83"/>
          <p:cNvSpPr txBox="1"/>
          <p:nvPr>
            <p:ph idx="1" type="body"/>
          </p:nvPr>
        </p:nvSpPr>
        <p:spPr>
          <a:xfrm>
            <a:off x="4195798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84" name="Google Shape;284;p83"/>
          <p:cNvSpPr txBox="1"/>
          <p:nvPr>
            <p:ph idx="2" type="body"/>
          </p:nvPr>
        </p:nvSpPr>
        <p:spPr>
          <a:xfrm>
            <a:off x="7793104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85" name="Google Shape;285;p83"/>
          <p:cNvSpPr txBox="1"/>
          <p:nvPr>
            <p:ph idx="3" type="body"/>
          </p:nvPr>
        </p:nvSpPr>
        <p:spPr>
          <a:xfrm>
            <a:off x="586324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40.xml"/><Relationship Id="rId20" Type="http://schemas.openxmlformats.org/officeDocument/2006/relationships/slideLayout" Target="../slideLayouts/slideLayout20.xml"/><Relationship Id="rId41" Type="http://schemas.openxmlformats.org/officeDocument/2006/relationships/theme" Target="../theme/theme2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37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14.xml"/><Relationship Id="rId36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17.xml"/><Relationship Id="rId39" Type="http://schemas.openxmlformats.org/officeDocument/2006/relationships/slideLayout" Target="../slideLayouts/slideLayout39.xml"/><Relationship Id="rId16" Type="http://schemas.openxmlformats.org/officeDocument/2006/relationships/slideLayout" Target="../slideLayouts/slideLayout16.xml"/><Relationship Id="rId38" Type="http://schemas.openxmlformats.org/officeDocument/2006/relationships/slideLayout" Target="../slideLayouts/slideLayout38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8"/>
          <p:cNvSpPr txBox="1"/>
          <p:nvPr>
            <p:ph type="title"/>
          </p:nvPr>
        </p:nvSpPr>
        <p:spPr>
          <a:xfrm>
            <a:off x="587375" y="584200"/>
            <a:ext cx="11017249" cy="1106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b="1" i="0" sz="4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1" name="Google Shape;11;p48"/>
          <p:cNvSpPr txBox="1"/>
          <p:nvPr>
            <p:ph idx="1" type="body"/>
          </p:nvPr>
        </p:nvSpPr>
        <p:spPr>
          <a:xfrm>
            <a:off x="587375" y="1825625"/>
            <a:ext cx="11017249" cy="4340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Char char="•"/>
              <a:defRPr b="0" i="0" sz="2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Char char="⏤"/>
              <a:def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⏤"/>
              <a:defRPr b="0" i="0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30200" lvl="3" marL="18288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Char char="⏤"/>
              <a:defRPr b="0" i="0" sz="16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2" name="Google Shape;12;p48"/>
          <p:cNvSpPr txBox="1"/>
          <p:nvPr>
            <p:ph idx="10" type="dt"/>
          </p:nvPr>
        </p:nvSpPr>
        <p:spPr>
          <a:xfrm>
            <a:off x="587375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3" name="Google Shape;13;p4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4" name="Google Shape;14;p48"/>
          <p:cNvSpPr txBox="1"/>
          <p:nvPr>
            <p:ph idx="12" type="sldNum"/>
          </p:nvPr>
        </p:nvSpPr>
        <p:spPr>
          <a:xfrm>
            <a:off x="8861424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368">
          <p15:clr>
            <a:srgbClr val="F26B43"/>
          </p15:clr>
        </p15:guide>
        <p15:guide id="2" pos="370">
          <p15:clr>
            <a:srgbClr val="F26B43"/>
          </p15:clr>
        </p15:guide>
        <p15:guide id="3" pos="7310">
          <p15:clr>
            <a:srgbClr val="F26B43"/>
          </p15:clr>
        </p15:guide>
        <p15:guide id="4" orient="horz" pos="38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1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1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1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1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1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1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1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1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hyperlink" Target="https://github.com/kontur-courses/exceptions" TargetMode="External"/><Relationship Id="rId4" Type="http://schemas.openxmlformats.org/officeDocument/2006/relationships/hyperlink" Target="https://github.com/kontur-courses/exceptions" TargetMode="External"/><Relationship Id="rId5" Type="http://schemas.openxmlformats.org/officeDocument/2006/relationships/image" Target="../media/image22.jp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11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12.pn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12.pn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12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11.png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11.png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15.png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11.png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11.png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11.png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11.png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11.png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11.png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11.png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12.png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11.png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11.png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12.png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12.png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20.png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20.png"/></Relationships>
</file>

<file path=ppt/slides/_rels/slide7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0.png"/><Relationship Id="rId4" Type="http://schemas.openxmlformats.org/officeDocument/2006/relationships/image" Target="../media/image10.png"/></Relationships>
</file>

<file path=ppt/slides/_rels/slide7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20.png"/><Relationship Id="rId4" Type="http://schemas.openxmlformats.org/officeDocument/2006/relationships/image" Target="../media/image10.png"/></Relationships>
</file>

<file path=ppt/slides/_rels/slide7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Relationship Id="rId3" Type="http://schemas.openxmlformats.org/officeDocument/2006/relationships/image" Target="../media/image20.png"/><Relationship Id="rId4" Type="http://schemas.openxmlformats.org/officeDocument/2006/relationships/image" Target="../media/image10.png"/></Relationships>
</file>

<file path=ppt/slides/_rels/slide7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Relationship Id="rId3" Type="http://schemas.openxmlformats.org/officeDocument/2006/relationships/image" Target="../media/image12.png"/></Relationships>
</file>

<file path=ppt/slides/_rels/slide7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12.png"/></Relationships>
</file>

<file path=ppt/slides/_rels/slide7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12.png"/></Relationships>
</file>

<file path=ppt/slides/_rels/slide7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12.png"/></Relationships>
</file>

<file path=ppt/slides/_rels/slide8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12.png"/></Relationships>
</file>

<file path=ppt/slides/_rels/slide8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12.png"/></Relationships>
</file>

<file path=ppt/slides/_rels/slide8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12.png"/></Relationships>
</file>

<file path=ppt/slides/_rels/slide8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12.png"/></Relationships>
</file>

<file path=ppt/slides/_rels/slide8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10.png"/></Relationships>
</file>

<file path=ppt/slides/_rels/slide8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10.png"/></Relationships>
</file>

<file path=ppt/slides/_rels/slide8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"/>
          <p:cNvSpPr txBox="1"/>
          <p:nvPr>
            <p:ph type="title"/>
          </p:nvPr>
        </p:nvSpPr>
        <p:spPr>
          <a:xfrm>
            <a:off x="594749" y="584200"/>
            <a:ext cx="5400000" cy="30137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ru-RU"/>
              <a:t>Exceptions</a:t>
            </a:r>
            <a:endParaRPr/>
          </a:p>
        </p:txBody>
      </p:sp>
      <p:sp>
        <p:nvSpPr>
          <p:cNvPr id="292" name="Google Shape;292;p1"/>
          <p:cNvSpPr txBox="1"/>
          <p:nvPr>
            <p:ph idx="3" type="body"/>
          </p:nvPr>
        </p:nvSpPr>
        <p:spPr>
          <a:xfrm>
            <a:off x="8183217" y="5961666"/>
            <a:ext cx="3421408" cy="2919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/>
              <a:t>kontur.ru</a:t>
            </a:r>
            <a:endParaRPr/>
          </a:p>
        </p:txBody>
      </p:sp>
      <p:sp>
        <p:nvSpPr>
          <p:cNvPr id="293" name="Google Shape;293;p1"/>
          <p:cNvSpPr txBox="1"/>
          <p:nvPr/>
        </p:nvSpPr>
        <p:spPr>
          <a:xfrm>
            <a:off x="594748" y="4194658"/>
            <a:ext cx="5400000" cy="3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Волков Кирилл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94" name="Google Shape;294;p1"/>
          <p:cNvSpPr txBox="1"/>
          <p:nvPr/>
        </p:nvSpPr>
        <p:spPr>
          <a:xfrm>
            <a:off x="594748" y="4598572"/>
            <a:ext cx="5400000" cy="6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И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нженер-программист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95" name="Google Shape;295;p1"/>
          <p:cNvPicPr preferRelativeResize="0"/>
          <p:nvPr>
            <p:ph idx="4" type="pic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45214" y="584201"/>
            <a:ext cx="3959400" cy="39594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9"/>
          <p:cNvSpPr txBox="1"/>
          <p:nvPr>
            <p:ph type="title"/>
          </p:nvPr>
        </p:nvSpPr>
        <p:spPr>
          <a:xfrm>
            <a:off x="587375" y="584200"/>
            <a:ext cx="61182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Хорош ли код?</a:t>
            </a:r>
            <a:endParaRPr/>
          </a:p>
        </p:txBody>
      </p:sp>
      <p:sp>
        <p:nvSpPr>
          <p:cNvPr id="301" name="Google Shape;301;p39"/>
          <p:cNvSpPr txBox="1"/>
          <p:nvPr/>
        </p:nvSpPr>
        <p:spPr>
          <a:xfrm>
            <a:off x="587375" y="1797550"/>
            <a:ext cx="6853200" cy="467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GetTheMainAnswer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() 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try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CalculateValue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catch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) 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ru-RU" sz="2000">
                <a:solidFill>
                  <a:srgbClr val="B5CEA8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2000">
              <a:solidFill>
                <a:srgbClr val="CC7832"/>
              </a:solidFill>
              <a:highlight>
                <a:srgbClr val="2B2B2B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302" name="Google Shape;302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120ba7d59a_0_20"/>
          <p:cNvSpPr txBox="1"/>
          <p:nvPr>
            <p:ph type="title"/>
          </p:nvPr>
        </p:nvSpPr>
        <p:spPr>
          <a:xfrm>
            <a:off x="587375" y="584200"/>
            <a:ext cx="61182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Делай ошибки видимыми</a:t>
            </a:r>
            <a:endParaRPr/>
          </a:p>
        </p:txBody>
      </p:sp>
      <p:pic>
        <p:nvPicPr>
          <p:cNvPr id="308" name="Google Shape;308;g3120ba7d59a_0_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4201"/>
            <a:ext cx="1377125" cy="137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120ba7d59a_0_5"/>
          <p:cNvSpPr txBox="1"/>
          <p:nvPr>
            <p:ph type="title"/>
          </p:nvPr>
        </p:nvSpPr>
        <p:spPr>
          <a:xfrm>
            <a:off x="587375" y="584200"/>
            <a:ext cx="61182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#1 Fail Fast</a:t>
            </a:r>
            <a:endParaRPr/>
          </a:p>
        </p:txBody>
      </p:sp>
      <p:sp>
        <p:nvSpPr>
          <p:cNvPr id="314" name="Google Shape;314;g3120ba7d59a_0_5"/>
          <p:cNvSpPr txBox="1"/>
          <p:nvPr/>
        </p:nvSpPr>
        <p:spPr>
          <a:xfrm>
            <a:off x="587375" y="2780775"/>
            <a:ext cx="90186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Если что-то идет не так - падай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15" name="Google Shape;315;g3120ba7d59a_0_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7387" y="3651768"/>
            <a:ext cx="464734" cy="464734"/>
          </a:xfrm>
          <a:prstGeom prst="rect">
            <a:avLst/>
          </a:prstGeom>
          <a:noFill/>
          <a:ln>
            <a:noFill/>
          </a:ln>
        </p:spPr>
      </p:pic>
      <p:pic>
        <p:nvPicPr>
          <p:cNvPr id="316" name="Google Shape;316;g3120ba7d59a_0_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7387" y="4466406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g3120ba7d59a_0_5"/>
          <p:cNvSpPr txBox="1"/>
          <p:nvPr/>
        </p:nvSpPr>
        <p:spPr>
          <a:xfrm>
            <a:off x="1203263" y="3739056"/>
            <a:ext cx="8827500" cy="14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Продолжение после ошибки может привести к другим ошибкам и нецелостным данным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Со стратегией Fail Fast проще обнаруживать ошибки при разработке и тестировании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18" name="Google Shape;318;g3120ba7d59a_0_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227501" y="584201"/>
            <a:ext cx="1377125" cy="137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12cb20dbda_1_18"/>
          <p:cNvSpPr txBox="1"/>
          <p:nvPr/>
        </p:nvSpPr>
        <p:spPr>
          <a:xfrm>
            <a:off x="587375" y="1632400"/>
            <a:ext cx="9984600" cy="51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ReportReceiver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6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Dictionary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Guid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reportsCache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6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Dictionary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Guid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Organization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sendersCache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6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Dictionary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Guid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Organization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receiversCache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6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OrganizationRepo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organizationsRepo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6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ReceiveReport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16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16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reportsCache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ContainsKey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{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sendersCache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organizationsRepo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SenderId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receiversCache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organizationsRepo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ReceiverId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reportsCache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324" name="Google Shape;324;g312cb20dbda_1_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g312cb20dbda_1_18"/>
          <p:cNvSpPr txBox="1"/>
          <p:nvPr>
            <p:ph type="title"/>
          </p:nvPr>
        </p:nvSpPr>
        <p:spPr>
          <a:xfrm>
            <a:off x="587375" y="584200"/>
            <a:ext cx="61182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Что делает код?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3120ba7d59a_0_60"/>
          <p:cNvSpPr txBox="1"/>
          <p:nvPr>
            <p:ph type="title"/>
          </p:nvPr>
        </p:nvSpPr>
        <p:spPr>
          <a:xfrm>
            <a:off x="587375" y="584200"/>
            <a:ext cx="99846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 sz="4000"/>
              <a:t>Помни о консистентности долгоживущих объектов</a:t>
            </a:r>
            <a:endParaRPr sz="4000"/>
          </a:p>
        </p:txBody>
      </p:sp>
      <p:sp>
        <p:nvSpPr>
          <p:cNvPr id="331" name="Google Shape;331;g3120ba7d59a_0_60"/>
          <p:cNvSpPr txBox="1"/>
          <p:nvPr/>
        </p:nvSpPr>
        <p:spPr>
          <a:xfrm>
            <a:off x="587375" y="1632400"/>
            <a:ext cx="9984600" cy="51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ReportReceiver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6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Dictionary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Guid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reportsCache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6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Dictionary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Guid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Organization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sendersCache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6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Dictionary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Guid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Organization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receiversCache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6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OrganizationRepo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organizationsRepo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6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ReceiveReport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6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16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16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reportsCache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ContainsKey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{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sendersCache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organizationsRepo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SenderId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receiversCache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organizationsRepo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ReceiverId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reportsCache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Id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16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report</a:t>
            </a: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6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2" name="Google Shape;332;g3120ba7d59a_0_60"/>
          <p:cNvSpPr txBox="1"/>
          <p:nvPr/>
        </p:nvSpPr>
        <p:spPr>
          <a:xfrm rot="-302903">
            <a:off x="4518873" y="5550673"/>
            <a:ext cx="7128654" cy="80051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0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Fail Fast тоже может нарушить консистентность!</a:t>
            </a:r>
            <a:endParaRPr b="1" sz="20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0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Но замалчивание проблем еще опаснее…</a:t>
            </a:r>
            <a:endParaRPr b="1" sz="20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33" name="Google Shape;333;g3120ba7d59a_0_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91826" y="584201"/>
            <a:ext cx="1377125" cy="137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3120ba7d59a_0_68"/>
          <p:cNvSpPr txBox="1"/>
          <p:nvPr>
            <p:ph type="title"/>
          </p:nvPr>
        </p:nvSpPr>
        <p:spPr>
          <a:xfrm>
            <a:off x="587375" y="577550"/>
            <a:ext cx="110172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Сделай </a:t>
            </a:r>
            <a:r>
              <a:rPr lang="ru-RU"/>
              <a:t>NullReferenceException заметным</a:t>
            </a:r>
            <a:r>
              <a:rPr lang="ru-RU"/>
              <a:t> </a:t>
            </a:r>
            <a:endParaRPr/>
          </a:p>
        </p:txBody>
      </p:sp>
      <p:sp>
        <p:nvSpPr>
          <p:cNvPr id="339" name="Google Shape;339;g3120ba7d59a_0_68"/>
          <p:cNvSpPr txBox="1"/>
          <p:nvPr/>
        </p:nvSpPr>
        <p:spPr>
          <a:xfrm>
            <a:off x="587375" y="2323575"/>
            <a:ext cx="90186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Старайся не возвращать </a:t>
            </a:r>
            <a:r>
              <a:rPr b="1" lang="ru-RU" sz="2000">
                <a:solidFill>
                  <a:srgbClr val="9FC5E8"/>
                </a:solidFill>
                <a:latin typeface="Montserrat"/>
                <a:ea typeface="Montserrat"/>
                <a:cs typeface="Montserrat"/>
                <a:sym typeface="Montserrat"/>
              </a:rPr>
              <a:t>null </a:t>
            </a: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никогда!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40" name="Google Shape;340;g3120ba7d59a_0_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7387" y="3042168"/>
            <a:ext cx="464734" cy="464734"/>
          </a:xfrm>
          <a:prstGeom prst="rect">
            <a:avLst/>
          </a:prstGeom>
          <a:noFill/>
          <a:ln>
            <a:noFill/>
          </a:ln>
        </p:spPr>
      </p:pic>
      <p:pic>
        <p:nvPicPr>
          <p:cNvPr id="341" name="Google Shape;341;g3120ba7d59a_0_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7387" y="3704406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g3120ba7d59a_0_68"/>
          <p:cNvSpPr txBox="1"/>
          <p:nvPr/>
        </p:nvSpPr>
        <p:spPr>
          <a:xfrm>
            <a:off x="1203263" y="3129456"/>
            <a:ext cx="8827500" cy="95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throw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NotFoundException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Паттерн </a:t>
            </a:r>
            <a:r>
              <a:rPr lang="ru-RU" sz="2000">
                <a:solidFill>
                  <a:srgbClr val="B5CEA8"/>
                </a:solidFill>
                <a:latin typeface="Montserrat"/>
                <a:ea typeface="Montserrat"/>
                <a:cs typeface="Montserrat"/>
                <a:sym typeface="Montserrat"/>
              </a:rPr>
              <a:t>Maybe</a:t>
            </a:r>
            <a:r>
              <a:rPr lang="ru-RU" sz="2000">
                <a:solidFill>
                  <a:srgbClr val="B6D7A8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/ </a:t>
            </a:r>
            <a:r>
              <a:rPr lang="ru-RU" sz="2000">
                <a:solidFill>
                  <a:srgbClr val="DCDCAA"/>
                </a:solidFill>
                <a:latin typeface="Montserrat"/>
                <a:ea typeface="Montserrat"/>
                <a:cs typeface="Montserrat"/>
                <a:sym typeface="Montserrat"/>
              </a:rPr>
              <a:t>Result&lt;T&gt;</a:t>
            </a:r>
            <a:endParaRPr>
              <a:solidFill>
                <a:srgbClr val="DCDCAA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3" name="Google Shape;343;g3120ba7d59a_0_68"/>
          <p:cNvSpPr txBox="1"/>
          <p:nvPr/>
        </p:nvSpPr>
        <p:spPr>
          <a:xfrm>
            <a:off x="587375" y="4772425"/>
            <a:ext cx="10814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Но если очень хочется, то </a:t>
            </a:r>
            <a:r>
              <a:rPr lang="ru-RU" sz="2000">
                <a:solidFill>
                  <a:srgbClr val="DCDCAA"/>
                </a:solidFill>
                <a:latin typeface="Montserrat"/>
                <a:ea typeface="Montserrat"/>
                <a:cs typeface="Montserrat"/>
                <a:sym typeface="Montserrat"/>
              </a:rPr>
              <a:t>[CanBeNull]</a:t>
            </a: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+ </a:t>
            </a:r>
            <a:r>
              <a:rPr lang="ru-RU" sz="2000">
                <a:solidFill>
                  <a:srgbClr val="C586C0"/>
                </a:solidFill>
                <a:latin typeface="Montserrat"/>
                <a:ea typeface="Montserrat"/>
                <a:cs typeface="Montserrat"/>
                <a:sym typeface="Montserrat"/>
              </a:rPr>
              <a:t>ReSharper</a:t>
            </a: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/</a:t>
            </a:r>
            <a:r>
              <a:rPr lang="ru-RU" sz="2000">
                <a:solidFill>
                  <a:srgbClr val="B5CEA8"/>
                </a:solidFill>
                <a:latin typeface="Montserrat"/>
                <a:ea typeface="Montserrat"/>
                <a:cs typeface="Montserrat"/>
                <a:sym typeface="Montserrat"/>
              </a:rPr>
              <a:t>Rider</a:t>
            </a: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/</a:t>
            </a:r>
            <a:r>
              <a:rPr lang="ru-RU" sz="2000">
                <a:solidFill>
                  <a:srgbClr val="DCDCAA"/>
                </a:solidFill>
                <a:latin typeface="Montserrat"/>
                <a:ea typeface="Montserrat"/>
                <a:cs typeface="Montserrat"/>
                <a:sym typeface="Montserrat"/>
              </a:rPr>
              <a:t>C#8+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4" name="Google Shape;344;g3120ba7d59a_0_68"/>
          <p:cNvSpPr txBox="1"/>
          <p:nvPr/>
        </p:nvSpPr>
        <p:spPr>
          <a:xfrm>
            <a:off x="587375" y="5368450"/>
            <a:ext cx="93426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Если нет решарпера, то используй конвенции наименования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3120ba7d59a_0_82"/>
          <p:cNvSpPr txBox="1"/>
          <p:nvPr>
            <p:ph type="title"/>
          </p:nvPr>
        </p:nvSpPr>
        <p:spPr>
          <a:xfrm>
            <a:off x="587375" y="584200"/>
            <a:ext cx="108144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#2 Конвенции наименования</a:t>
            </a:r>
            <a:endParaRPr/>
          </a:p>
        </p:txBody>
      </p:sp>
      <p:sp>
        <p:nvSpPr>
          <p:cNvPr id="350" name="Google Shape;350;g3120ba7d59a_0_82"/>
          <p:cNvSpPr txBox="1"/>
          <p:nvPr/>
        </p:nvSpPr>
        <p:spPr>
          <a:xfrm>
            <a:off x="587375" y="2323575"/>
            <a:ext cx="90186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000">
                <a:solidFill>
                  <a:srgbClr val="9FC5E8"/>
                </a:solidFill>
                <a:latin typeface="Montserrat"/>
                <a:ea typeface="Montserrat"/>
                <a:cs typeface="Montserrat"/>
                <a:sym typeface="Montserrat"/>
              </a:rPr>
              <a:t>null</a:t>
            </a:r>
            <a:r>
              <a:rPr b="1" lang="ru-RU" sz="2000">
                <a:solidFill>
                  <a:srgbClr val="9FC5E8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разрешено возвращать только методам </a:t>
            </a:r>
            <a:r>
              <a:rPr lang="ru-RU" sz="2000">
                <a:solidFill>
                  <a:srgbClr val="DCDCAA"/>
                </a:solidFill>
                <a:latin typeface="Montserrat"/>
                <a:ea typeface="Montserrat"/>
                <a:cs typeface="Montserrat"/>
                <a:sym typeface="Montserrat"/>
              </a:rPr>
              <a:t>FindXXX </a:t>
            </a: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или </a:t>
            </a:r>
            <a:r>
              <a:rPr lang="ru-RU" sz="2000">
                <a:solidFill>
                  <a:srgbClr val="DCDCAA"/>
                </a:solidFill>
                <a:latin typeface="Montserrat"/>
                <a:ea typeface="Montserrat"/>
                <a:cs typeface="Montserrat"/>
                <a:sym typeface="Montserrat"/>
              </a:rPr>
              <a:t>TryXXX</a:t>
            </a:r>
            <a:endParaRPr sz="2000">
              <a:solidFill>
                <a:srgbClr val="DCDCAA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51" name="Google Shape;351;g3120ba7d59a_0_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7375" y="3536525"/>
            <a:ext cx="417850" cy="41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2" name="Google Shape;352;g3120ba7d59a_0_8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0025" y="3921200"/>
            <a:ext cx="355200" cy="417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3" name="Google Shape;353;g3120ba7d59a_0_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7375" y="4374725"/>
            <a:ext cx="417850" cy="41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4" name="Google Shape;354;g3120ba7d59a_0_8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0025" y="4759400"/>
            <a:ext cx="355200" cy="417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5" name="Google Shape;355;g3120ba7d59a_0_8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0025" y="5140400"/>
            <a:ext cx="355200" cy="417825"/>
          </a:xfrm>
          <a:prstGeom prst="rect">
            <a:avLst/>
          </a:prstGeom>
          <a:noFill/>
          <a:ln>
            <a:noFill/>
          </a:ln>
        </p:spPr>
      </p:pic>
      <p:sp>
        <p:nvSpPr>
          <p:cNvPr id="356" name="Google Shape;356;g3120ba7d59a_0_82"/>
          <p:cNvSpPr txBox="1"/>
          <p:nvPr/>
        </p:nvSpPr>
        <p:spPr>
          <a:xfrm>
            <a:off x="1120775" y="3499150"/>
            <a:ext cx="6344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name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FindPerson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).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Name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/>
          </a:p>
        </p:txBody>
      </p:sp>
      <p:sp>
        <p:nvSpPr>
          <p:cNvPr id="357" name="Google Shape;357;g3120ba7d59a_0_82"/>
          <p:cNvSpPr txBox="1"/>
          <p:nvPr/>
        </p:nvSpPr>
        <p:spPr>
          <a:xfrm>
            <a:off x="1120775" y="3883800"/>
            <a:ext cx="6563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name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FindPerson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Name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??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"NA"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/>
          </a:p>
        </p:txBody>
      </p:sp>
      <p:sp>
        <p:nvSpPr>
          <p:cNvPr id="358" name="Google Shape;358;g3120ba7d59a_0_82"/>
          <p:cNvSpPr txBox="1"/>
          <p:nvPr/>
        </p:nvSpPr>
        <p:spPr>
          <a:xfrm>
            <a:off x="1120775" y="4300225"/>
            <a:ext cx="57339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Run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TryReadSettings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filename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/>
          </a:p>
        </p:txBody>
      </p:sp>
      <p:sp>
        <p:nvSpPr>
          <p:cNvPr id="359" name="Google Shape;359;g3120ba7d59a_0_82"/>
          <p:cNvSpPr txBox="1"/>
          <p:nvPr/>
        </p:nvSpPr>
        <p:spPr>
          <a:xfrm>
            <a:off x="1120775" y="4722013"/>
            <a:ext cx="74808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Run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TryReadSettings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filename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??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defaultSettings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/>
          </a:p>
        </p:txBody>
      </p:sp>
      <p:sp>
        <p:nvSpPr>
          <p:cNvPr id="360" name="Google Shape;360;g3120ba7d59a_0_82"/>
          <p:cNvSpPr txBox="1"/>
          <p:nvPr/>
        </p:nvSpPr>
        <p:spPr>
          <a:xfrm>
            <a:off x="1120775" y="5101300"/>
            <a:ext cx="69780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GetConvertor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formatType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Convert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ReadData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());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3120ba7d59a_0_96"/>
          <p:cNvSpPr txBox="1"/>
          <p:nvPr>
            <p:ph type="title"/>
          </p:nvPr>
        </p:nvSpPr>
        <p:spPr>
          <a:xfrm>
            <a:off x="587375" y="736600"/>
            <a:ext cx="66651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Исключения для исключительного</a:t>
            </a:r>
            <a:endParaRPr/>
          </a:p>
        </p:txBody>
      </p:sp>
      <p:pic>
        <p:nvPicPr>
          <p:cNvPr id="366" name="Google Shape;366;g3120ba7d59a_0_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736601"/>
            <a:ext cx="1377125" cy="137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3120ba7d59a_0_101"/>
          <p:cNvSpPr txBox="1"/>
          <p:nvPr>
            <p:ph type="title"/>
          </p:nvPr>
        </p:nvSpPr>
        <p:spPr>
          <a:xfrm>
            <a:off x="587375" y="583200"/>
            <a:ext cx="91860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#3 Обработай ожидаемые проблемы</a:t>
            </a:r>
            <a:endParaRPr/>
          </a:p>
        </p:txBody>
      </p:sp>
      <p:pic>
        <p:nvPicPr>
          <p:cNvPr id="372" name="Google Shape;372;g3120ba7d59a_0_10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0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g3120ba7d59a_0_101"/>
          <p:cNvSpPr txBox="1"/>
          <p:nvPr/>
        </p:nvSpPr>
        <p:spPr>
          <a:xfrm>
            <a:off x="587375" y="3137775"/>
            <a:ext cx="3883200" cy="23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Некорректный ввод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Ошибка сети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Файл настроек не найден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Нарушение формата файла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74" name="Google Shape;374;g3120ba7d59a_0_101"/>
          <p:cNvSpPr txBox="1"/>
          <p:nvPr/>
        </p:nvSpPr>
        <p:spPr>
          <a:xfrm>
            <a:off x="5822425" y="3137775"/>
            <a:ext cx="4258200" cy="26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Обратись к пользователю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Повтори попытку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Примени другой метод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Уточни сообщение об ошибке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75" name="Google Shape;375;g3120ba7d59a_0_10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56653" y="3082792"/>
            <a:ext cx="540000" cy="54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6" name="Google Shape;376;g3120ba7d59a_0_10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56653" y="3692392"/>
            <a:ext cx="540000" cy="54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7" name="Google Shape;377;g3120ba7d59a_0_10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56653" y="4301992"/>
            <a:ext cx="540000" cy="54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g3120ba7d59a_0_10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56653" y="4911592"/>
            <a:ext cx="540000" cy="54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3120ba7d59a_0_130"/>
          <p:cNvSpPr txBox="1"/>
          <p:nvPr>
            <p:ph type="title"/>
          </p:nvPr>
        </p:nvSpPr>
        <p:spPr>
          <a:xfrm>
            <a:off x="587375" y="583200"/>
            <a:ext cx="91860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#4 Не строй логику 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на исключениях</a:t>
            </a:r>
            <a:endParaRPr/>
          </a:p>
        </p:txBody>
      </p:sp>
      <p:pic>
        <p:nvPicPr>
          <p:cNvPr id="384" name="Google Shape;384;g3120ba7d59a_0_1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0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g3120ba7d59a_0_130"/>
          <p:cNvSpPr txBox="1"/>
          <p:nvPr/>
        </p:nvSpPr>
        <p:spPr>
          <a:xfrm>
            <a:off x="587375" y="2730675"/>
            <a:ext cx="3651300" cy="341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try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Parse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catch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6" name="Google Shape;386;g3120ba7d59a_0_130"/>
          <p:cNvSpPr txBox="1"/>
          <p:nvPr/>
        </p:nvSpPr>
        <p:spPr>
          <a:xfrm>
            <a:off x="5621050" y="2730675"/>
            <a:ext cx="34635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TryParse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out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7" name="Google Shape;387;g3120ba7d59a_0_130"/>
          <p:cNvSpPr txBox="1"/>
          <p:nvPr/>
        </p:nvSpPr>
        <p:spPr>
          <a:xfrm>
            <a:off x="3896375" y="4797475"/>
            <a:ext cx="25680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70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x300</a:t>
            </a:r>
            <a:endParaRPr b="1" sz="70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120ba7d59a_0_162"/>
          <p:cNvSpPr txBox="1"/>
          <p:nvPr>
            <p:ph type="title"/>
          </p:nvPr>
        </p:nvSpPr>
        <p:spPr>
          <a:xfrm>
            <a:off x="587375" y="583200"/>
            <a:ext cx="91860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#5 Минимизируй try,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конкретизируй catch</a:t>
            </a:r>
            <a:endParaRPr/>
          </a:p>
        </p:txBody>
      </p:sp>
      <p:pic>
        <p:nvPicPr>
          <p:cNvPr id="393" name="Google Shape;393;g3120ba7d59a_0_1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0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g3120ba7d59a_0_162"/>
          <p:cNvSpPr txBox="1"/>
          <p:nvPr/>
        </p:nvSpPr>
        <p:spPr>
          <a:xfrm>
            <a:off x="587375" y="2265450"/>
            <a:ext cx="7169400" cy="467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try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//...</a:t>
            </a:r>
            <a:endParaRPr sz="2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Parse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//...</a:t>
            </a:r>
            <a:endParaRPr sz="2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catch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throw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FormatException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2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"Incorrect number format"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3120ba7d59a_0_173"/>
          <p:cNvSpPr txBox="1"/>
          <p:nvPr>
            <p:ph type="title"/>
          </p:nvPr>
        </p:nvSpPr>
        <p:spPr>
          <a:xfrm>
            <a:off x="587375" y="583200"/>
            <a:ext cx="91860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Логируй все</a:t>
            </a:r>
            <a:endParaRPr/>
          </a:p>
        </p:txBody>
      </p:sp>
      <p:pic>
        <p:nvPicPr>
          <p:cNvPr id="400" name="Google Shape;400;g3120ba7d59a_0_1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0"/>
            <a:ext cx="1377125" cy="137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3120ba7d59a_0_179"/>
          <p:cNvSpPr txBox="1"/>
          <p:nvPr>
            <p:ph type="title"/>
          </p:nvPr>
        </p:nvSpPr>
        <p:spPr>
          <a:xfrm>
            <a:off x="587375" y="583200"/>
            <a:ext cx="91860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#6 Создай глобальный обработчик</a:t>
            </a:r>
            <a:endParaRPr/>
          </a:p>
        </p:txBody>
      </p:sp>
      <p:pic>
        <p:nvPicPr>
          <p:cNvPr id="406" name="Google Shape;406;g3120ba7d59a_0_17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0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407" name="Google Shape;407;g3120ba7d59a_0_179"/>
          <p:cNvSpPr txBox="1"/>
          <p:nvPr/>
        </p:nvSpPr>
        <p:spPr>
          <a:xfrm>
            <a:off x="587375" y="1858500"/>
            <a:ext cx="8968500" cy="508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Main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try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DoEverything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catch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// залогировать e для отладки и расследований</a:t>
            </a:r>
            <a:endParaRPr sz="2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// показать грустного котёнка пользователю</a:t>
            </a:r>
            <a:endParaRPr sz="2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3120ba7d59a_0_187"/>
          <p:cNvSpPr txBox="1"/>
          <p:nvPr>
            <p:ph type="title"/>
          </p:nvPr>
        </p:nvSpPr>
        <p:spPr>
          <a:xfrm>
            <a:off x="587375" y="583200"/>
            <a:ext cx="91860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В том числе на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каждый поток!</a:t>
            </a:r>
            <a:endParaRPr/>
          </a:p>
        </p:txBody>
      </p:sp>
      <p:pic>
        <p:nvPicPr>
          <p:cNvPr id="413" name="Google Shape;413;g3120ba7d59a_0_1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414" name="Google Shape;414;g3120ba7d59a_0_187"/>
          <p:cNvSpPr txBox="1"/>
          <p:nvPr/>
        </p:nvSpPr>
        <p:spPr>
          <a:xfrm>
            <a:off x="587375" y="2872625"/>
            <a:ext cx="8968500" cy="21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StartProcessing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Data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Thread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(()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ProcessData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Start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g3120ba7d59a_0_194"/>
          <p:cNvSpPr txBox="1"/>
          <p:nvPr>
            <p:ph type="title"/>
          </p:nvPr>
        </p:nvSpPr>
        <p:spPr>
          <a:xfrm>
            <a:off x="587375" y="583200"/>
            <a:ext cx="91860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DRY</a:t>
            </a:r>
            <a:endParaRPr/>
          </a:p>
        </p:txBody>
      </p:sp>
      <p:pic>
        <p:nvPicPr>
          <p:cNvPr id="420" name="Google Shape;420;g3120ba7d59a_0_19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g3120ba7d59a_0_194"/>
          <p:cNvSpPr txBox="1"/>
          <p:nvPr/>
        </p:nvSpPr>
        <p:spPr>
          <a:xfrm>
            <a:off x="587375" y="1707100"/>
            <a:ext cx="8968500" cy="508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HandleErrors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try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catch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// залогировать e для отладки и расследований</a:t>
            </a:r>
            <a:endParaRPr sz="2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// показать грустного котёнка пользователю</a:t>
            </a:r>
            <a:endParaRPr sz="2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3120ba7d59a_0_201"/>
          <p:cNvSpPr txBox="1"/>
          <p:nvPr>
            <p:ph type="title"/>
          </p:nvPr>
        </p:nvSpPr>
        <p:spPr>
          <a:xfrm>
            <a:off x="587375" y="583200"/>
            <a:ext cx="91860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В том числе на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каждый поток!</a:t>
            </a:r>
            <a:endParaRPr/>
          </a:p>
        </p:txBody>
      </p:sp>
      <p:pic>
        <p:nvPicPr>
          <p:cNvPr id="427" name="Google Shape;427;g3120ba7d59a_0_20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428" name="Google Shape;428;g3120ba7d59a_0_201"/>
          <p:cNvSpPr txBox="1"/>
          <p:nvPr/>
        </p:nvSpPr>
        <p:spPr>
          <a:xfrm>
            <a:off x="587375" y="2872625"/>
            <a:ext cx="8968500" cy="25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StartProcessing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Data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Thread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(()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endParaRPr sz="2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HandleErrors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(()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ProcessData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Start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3120ba7d59a_0_208"/>
          <p:cNvSpPr txBox="1"/>
          <p:nvPr>
            <p:ph type="title"/>
          </p:nvPr>
        </p:nvSpPr>
        <p:spPr>
          <a:xfrm>
            <a:off x="587375" y="583200"/>
            <a:ext cx="91860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И, возможно,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в действиях GUI</a:t>
            </a:r>
            <a:endParaRPr/>
          </a:p>
        </p:txBody>
      </p:sp>
      <p:pic>
        <p:nvPicPr>
          <p:cNvPr id="434" name="Google Shape;434;g3120ba7d59a_0_20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435" name="Google Shape;435;g3120ba7d59a_0_208"/>
          <p:cNvSpPr txBox="1"/>
          <p:nvPr/>
        </p:nvSpPr>
        <p:spPr>
          <a:xfrm>
            <a:off x="587375" y="2872625"/>
            <a:ext cx="8968500" cy="17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OnClick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object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sender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MouseEvent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HandleErrors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(()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PerformUnsafeAction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3120ba7d59a_0_215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Как узнать о необработанном исключении</a:t>
            </a:r>
            <a:endParaRPr/>
          </a:p>
        </p:txBody>
      </p:sp>
      <p:pic>
        <p:nvPicPr>
          <p:cNvPr id="441" name="Google Shape;441;g3120ba7d59a_0_2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7387" y="365176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442" name="Google Shape;442;g3120ba7d59a_0_215"/>
          <p:cNvSpPr txBox="1"/>
          <p:nvPr/>
        </p:nvSpPr>
        <p:spPr>
          <a:xfrm>
            <a:off x="1203263" y="3739056"/>
            <a:ext cx="8827500" cy="7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AppDomain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CurrentDomain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UnhandledException</a:t>
            </a:r>
            <a:endParaRPr sz="2000">
              <a:solidFill>
                <a:srgbClr val="9CDCFE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args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Log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args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ExceptionObject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43" name="Google Shape;443;g3120ba7d59a_0_2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7387" y="464236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444" name="Google Shape;444;g3120ba7d59a_0_215"/>
          <p:cNvSpPr txBox="1"/>
          <p:nvPr/>
        </p:nvSpPr>
        <p:spPr>
          <a:xfrm>
            <a:off x="1203275" y="4729653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Windows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Event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Log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Viewer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(eventvwr)</a:t>
            </a:r>
            <a:endParaRPr sz="2000">
              <a:solidFill>
                <a:srgbClr val="9CDCFE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45" name="Google Shape;445;g3120ba7d59a_0_2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7387" y="5232112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446" name="Google Shape;446;g3120ba7d59a_0_215"/>
          <p:cNvSpPr txBox="1"/>
          <p:nvPr/>
        </p:nvSpPr>
        <p:spPr>
          <a:xfrm>
            <a:off x="1203275" y="5293020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152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000">
                <a:solidFill>
                  <a:srgbClr val="C699E3"/>
                </a:solidFill>
                <a:latin typeface="Consolas"/>
                <a:ea typeface="Consolas"/>
                <a:cs typeface="Consolas"/>
                <a:sym typeface="Consolas"/>
              </a:rPr>
              <a:t>cat</a:t>
            </a:r>
            <a:r>
              <a:rPr lang="ru-RU" sz="2000">
                <a:solidFill>
                  <a:srgbClr val="F9FAFB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CCCCCC"/>
                </a:solidFill>
                <a:latin typeface="Consolas"/>
                <a:ea typeface="Consolas"/>
                <a:cs typeface="Consolas"/>
                <a:sym typeface="Consolas"/>
              </a:rPr>
              <a:t>/var/log/syslog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g3120ba7d59a_0_227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#7 Добавь подробностей - быстрее найдешь ошибку</a:t>
            </a:r>
            <a:endParaRPr/>
          </a:p>
        </p:txBody>
      </p:sp>
      <p:sp>
        <p:nvSpPr>
          <p:cNvPr id="452" name="Google Shape;452;g3120ba7d59a_0_227"/>
          <p:cNvSpPr txBox="1"/>
          <p:nvPr/>
        </p:nvSpPr>
        <p:spPr>
          <a:xfrm>
            <a:off x="587375" y="2293250"/>
            <a:ext cx="8804700" cy="425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double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ParseLine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line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try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line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Split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Select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double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Parse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ToArray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catch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FormatException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throw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FormatException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2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$"Incorrect value in line [{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line</a:t>
            </a:r>
            <a:r>
              <a:rPr lang="ru-RU" sz="2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}]"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g3120ba7d59a_0_238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#7 Добавь подробностей - быстрее найдешь ошибку</a:t>
            </a:r>
            <a:endParaRPr/>
          </a:p>
        </p:txBody>
      </p:sp>
      <p:sp>
        <p:nvSpPr>
          <p:cNvPr id="458" name="Google Shape;458;g3120ba7d59a_0_238"/>
          <p:cNvSpPr txBox="1"/>
          <p:nvPr/>
        </p:nvSpPr>
        <p:spPr>
          <a:xfrm>
            <a:off x="587375" y="2293250"/>
            <a:ext cx="8804700" cy="425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double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ParseLine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line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try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line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Split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Select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double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Parse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ToArray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catch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FormatException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throw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FormatException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2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$"Incorrect value in line [{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line</a:t>
            </a:r>
            <a:r>
              <a:rPr lang="ru-RU" sz="2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}]"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3120ba7d59a_0_244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Резюме</a:t>
            </a:r>
            <a:endParaRPr/>
          </a:p>
        </p:txBody>
      </p:sp>
      <p:sp>
        <p:nvSpPr>
          <p:cNvPr id="464" name="Google Shape;464;g3120ba7d59a_0_244"/>
          <p:cNvSpPr txBox="1"/>
          <p:nvPr/>
        </p:nvSpPr>
        <p:spPr>
          <a:xfrm>
            <a:off x="917625" y="2528888"/>
            <a:ext cx="648300" cy="7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6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b="1" sz="6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5" name="Google Shape;465;g3120ba7d59a_0_244"/>
          <p:cNvSpPr txBox="1"/>
          <p:nvPr/>
        </p:nvSpPr>
        <p:spPr>
          <a:xfrm>
            <a:off x="917625" y="4605025"/>
            <a:ext cx="648300" cy="7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6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b="1" sz="6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6" name="Google Shape;466;g3120ba7d59a_0_244"/>
          <p:cNvSpPr txBox="1"/>
          <p:nvPr/>
        </p:nvSpPr>
        <p:spPr>
          <a:xfrm>
            <a:off x="6574122" y="2528888"/>
            <a:ext cx="648300" cy="7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6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b="1" sz="6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7" name="Google Shape;467;g3120ba7d59a_0_244"/>
          <p:cNvSpPr txBox="1"/>
          <p:nvPr/>
        </p:nvSpPr>
        <p:spPr>
          <a:xfrm>
            <a:off x="1565925" y="2528900"/>
            <a:ext cx="35076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Делай ошибки видимыми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8" name="Google Shape;468;g3120ba7d59a_0_244"/>
          <p:cNvSpPr txBox="1"/>
          <p:nvPr/>
        </p:nvSpPr>
        <p:spPr>
          <a:xfrm>
            <a:off x="7327650" y="2528900"/>
            <a:ext cx="37116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Исключения для исключительного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9" name="Google Shape;469;g3120ba7d59a_0_244"/>
          <p:cNvSpPr txBox="1"/>
          <p:nvPr/>
        </p:nvSpPr>
        <p:spPr>
          <a:xfrm>
            <a:off x="1642125" y="4691125"/>
            <a:ext cx="2661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Логируй все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3120ba7d59a_0_255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Про async и Task 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следует помнить</a:t>
            </a:r>
            <a:endParaRPr/>
          </a:p>
        </p:txBody>
      </p:sp>
      <p:pic>
        <p:nvPicPr>
          <p:cNvPr id="475" name="Google Shape;475;g3120ba7d59a_0_2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g3120ba7d59a_0_255"/>
          <p:cNvSpPr txBox="1"/>
          <p:nvPr/>
        </p:nvSpPr>
        <p:spPr>
          <a:xfrm>
            <a:off x="587375" y="2973900"/>
            <a:ext cx="6746100" cy="9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Thread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thread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Thread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(()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Work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thread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Start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7" name="Google Shape;477;g3120ba7d59a_0_255"/>
          <p:cNvSpPr txBox="1"/>
          <p:nvPr/>
        </p:nvSpPr>
        <p:spPr>
          <a:xfrm>
            <a:off x="587375" y="4565975"/>
            <a:ext cx="7383300" cy="9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Task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task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Task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Run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(()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Work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Task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task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Task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Run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(()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GetValue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3120ba7d59a_0_275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Про async и Task 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следует помнить</a:t>
            </a:r>
            <a:endParaRPr/>
          </a:p>
        </p:txBody>
      </p:sp>
      <p:pic>
        <p:nvPicPr>
          <p:cNvPr id="483" name="Google Shape;483;g3120ba7d59a_0_27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484" name="Google Shape;484;g3120ba7d59a_0_275"/>
          <p:cNvSpPr txBox="1"/>
          <p:nvPr/>
        </p:nvSpPr>
        <p:spPr>
          <a:xfrm>
            <a:off x="587375" y="2263900"/>
            <a:ext cx="8199900" cy="271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Work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Data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8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try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1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Task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Run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(() </a:t>
            </a:r>
            <a:r>
              <a:rPr lang="ru-RU" sz="1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Process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 </a:t>
            </a:r>
            <a:r>
              <a:rPr lang="ru-RU" sz="18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&lt;-- Task</a:t>
            </a:r>
            <a:endParaRPr sz="18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8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catch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1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Exception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5" name="Google Shape;485;g3120ba7d59a_0_275"/>
          <p:cNvSpPr txBox="1"/>
          <p:nvPr/>
        </p:nvSpPr>
        <p:spPr>
          <a:xfrm>
            <a:off x="587375" y="4940925"/>
            <a:ext cx="7383300" cy="158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Work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Data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Task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Run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(() </a:t>
            </a:r>
            <a:r>
              <a:rPr lang="ru-RU" sz="1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Process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.</a:t>
            </a:r>
            <a:r>
              <a:rPr lang="ru-RU" sz="1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ContinueWith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task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HandleExceptions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task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3120ba7d59a_0_300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Особые исключения</a:t>
            </a:r>
            <a:endParaRPr/>
          </a:p>
        </p:txBody>
      </p:sp>
      <p:pic>
        <p:nvPicPr>
          <p:cNvPr id="491" name="Google Shape;491;g3120ba7d59a_0_30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g3120ba7d59a_0_30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28982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493" name="Google Shape;493;g3120ba7d59a_0_300"/>
          <p:cNvSpPr txBox="1"/>
          <p:nvPr/>
        </p:nvSpPr>
        <p:spPr>
          <a:xfrm>
            <a:off x="1203263" y="29855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TypeInitializationException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94" name="Google Shape;494;g3120ba7d59a_0_30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4316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495" name="Google Shape;495;g3120ba7d59a_0_300"/>
          <p:cNvSpPr txBox="1"/>
          <p:nvPr/>
        </p:nvSpPr>
        <p:spPr>
          <a:xfrm>
            <a:off x="1203263" y="35189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StackOverflowException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96" name="Google Shape;496;g3120ba7d59a_0_30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9650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497" name="Google Shape;497;g3120ba7d59a_0_300"/>
          <p:cNvSpPr txBox="1"/>
          <p:nvPr/>
        </p:nvSpPr>
        <p:spPr>
          <a:xfrm>
            <a:off x="1203263" y="40523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AccessViolationException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98" name="Google Shape;498;g3120ba7d59a_0_30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44984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499" name="Google Shape;499;g3120ba7d59a_0_300"/>
          <p:cNvSpPr txBox="1"/>
          <p:nvPr/>
        </p:nvSpPr>
        <p:spPr>
          <a:xfrm>
            <a:off x="1203263" y="45857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OutOfMemoryException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00" name="Google Shape;500;g3120ba7d59a_0_30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50318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501" name="Google Shape;501;g3120ba7d59a_0_300"/>
          <p:cNvSpPr txBox="1"/>
          <p:nvPr/>
        </p:nvSpPr>
        <p:spPr>
          <a:xfrm>
            <a:off x="1203263" y="51191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ThreadAbortException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5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3120ba7d59a_0_328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Class initialization</a:t>
            </a:r>
            <a:endParaRPr/>
          </a:p>
        </p:txBody>
      </p:sp>
      <p:pic>
        <p:nvPicPr>
          <p:cNvPr id="507" name="Google Shape;507;g3120ba7d59a_0_3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g3120ba7d59a_0_328"/>
          <p:cNvSpPr txBox="1"/>
          <p:nvPr/>
        </p:nvSpPr>
        <p:spPr>
          <a:xfrm>
            <a:off x="587375" y="1406675"/>
            <a:ext cx="9135000" cy="53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Program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Program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{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1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Console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WriteLine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8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"ctor"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18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throw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Exception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42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ru-RU" sz="1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tatic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Program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Instance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Program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1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1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Main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{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1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Console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WriteLine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8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"main"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1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Console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1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WriteLine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1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g3120ba7d59a_0_346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Stack overflow</a:t>
            </a:r>
            <a:endParaRPr/>
          </a:p>
        </p:txBody>
      </p:sp>
      <p:sp>
        <p:nvSpPr>
          <p:cNvPr id="514" name="Google Shape;514;g3120ba7d59a_0_346"/>
          <p:cNvSpPr txBox="1"/>
          <p:nvPr/>
        </p:nvSpPr>
        <p:spPr>
          <a:xfrm>
            <a:off x="587375" y="1708450"/>
            <a:ext cx="4765500" cy="467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try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MaxValue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catch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Console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WriteLine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"!"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..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 </a:t>
            </a:r>
            <a:r>
              <a:rPr lang="ru-RU" sz="2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//Do something</a:t>
            </a:r>
            <a:endParaRPr sz="2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5" name="Google Shape;515;g3120ba7d59a_0_346"/>
          <p:cNvSpPr txBox="1"/>
          <p:nvPr/>
        </p:nvSpPr>
        <p:spPr>
          <a:xfrm>
            <a:off x="5935225" y="1708450"/>
            <a:ext cx="5669400" cy="25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try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throw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StackOverflowException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catch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Console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WriteLine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"!"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16" name="Google Shape;516;g3120ba7d59a_0_346"/>
          <p:cNvCxnSpPr/>
          <p:nvPr/>
        </p:nvCxnSpPr>
        <p:spPr>
          <a:xfrm>
            <a:off x="5566825" y="1654025"/>
            <a:ext cx="15000" cy="4581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g3120ba7d59a_0_362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Stack overflow</a:t>
            </a:r>
            <a:endParaRPr/>
          </a:p>
        </p:txBody>
      </p:sp>
      <p:sp>
        <p:nvSpPr>
          <p:cNvPr id="522" name="Google Shape;522;g3120ba7d59a_0_362"/>
          <p:cNvSpPr txBox="1"/>
          <p:nvPr/>
        </p:nvSpPr>
        <p:spPr>
          <a:xfrm>
            <a:off x="587375" y="1935700"/>
            <a:ext cx="6174000" cy="341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PrintObject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object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Do something</a:t>
            </a:r>
            <a:endParaRPr sz="2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child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GetChilds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PrintObject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child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23" name="Google Shape;523;g3120ba7d59a_0_3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7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g3120ba7d59a_0_372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Stack overflow</a:t>
            </a:r>
            <a:endParaRPr/>
          </a:p>
        </p:txBody>
      </p:sp>
      <p:sp>
        <p:nvSpPr>
          <p:cNvPr id="529" name="Google Shape;529;g3120ba7d59a_0_372"/>
          <p:cNvSpPr txBox="1"/>
          <p:nvPr/>
        </p:nvSpPr>
        <p:spPr>
          <a:xfrm>
            <a:off x="587375" y="1935700"/>
            <a:ext cx="7383300" cy="383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PrintObject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object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depth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MaxDepth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Do something</a:t>
            </a:r>
            <a:endParaRPr sz="2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depth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child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GetChilds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PrintObject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child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depth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30" name="Google Shape;530;g3120ba7d59a_0_3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4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g3120ba7d59a_0_378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Unsafe code</a:t>
            </a:r>
            <a:endParaRPr/>
          </a:p>
        </p:txBody>
      </p:sp>
      <p:sp>
        <p:nvSpPr>
          <p:cNvPr id="536" name="Google Shape;536;g3120ba7d59a_0_378"/>
          <p:cNvSpPr txBox="1"/>
          <p:nvPr/>
        </p:nvSpPr>
        <p:spPr>
          <a:xfrm>
            <a:off x="587375" y="1935700"/>
            <a:ext cx="7383300" cy="341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unsafe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endParaRPr sz="2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fixed byte array[48];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void* ptr;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ToFloat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val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val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37" name="Google Shape;537;g3120ba7d59a_0_3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g3120ba7d59a_0_384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Access Violation</a:t>
            </a:r>
            <a:endParaRPr/>
          </a:p>
        </p:txBody>
      </p:sp>
      <p:pic>
        <p:nvPicPr>
          <p:cNvPr id="543" name="Google Shape;543;g3120ba7d59a_0_3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4" name="Google Shape;544;g3120ba7d59a_0_38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28982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545" name="Google Shape;545;g3120ba7d59a_0_384"/>
          <p:cNvSpPr txBox="1"/>
          <p:nvPr/>
        </p:nvSpPr>
        <p:spPr>
          <a:xfrm>
            <a:off x="1203263" y="29855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Возникает при некорректной работе с памятью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46" name="Google Shape;546;g3120ba7d59a_0_38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5078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547" name="Google Shape;547;g3120ba7d59a_0_384"/>
          <p:cNvSpPr txBox="1"/>
          <p:nvPr/>
        </p:nvSpPr>
        <p:spPr>
          <a:xfrm>
            <a:off x="1203263" y="3595106"/>
            <a:ext cx="8827500" cy="7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Аналогично </a:t>
            </a:r>
            <a:r>
              <a:rPr lang="ru-RU" sz="20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StackOverflow 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- поведение зависит от кода, выбросившего исключение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48" name="Google Shape;548;g3120ba7d59a_0_38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44222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g3120ba7d59a_0_384"/>
          <p:cNvSpPr txBox="1"/>
          <p:nvPr/>
        </p:nvSpPr>
        <p:spPr>
          <a:xfrm>
            <a:off x="1203263" y="4509506"/>
            <a:ext cx="8827500" cy="7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Можно перехватить, если захотеть (на .NET Framework)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HandleProcessCorruptedStateExceptions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g3120ba7d59a_0_400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Thread abort</a:t>
            </a:r>
            <a:endParaRPr/>
          </a:p>
        </p:txBody>
      </p:sp>
      <p:pic>
        <p:nvPicPr>
          <p:cNvPr id="555" name="Google Shape;555;g3120ba7d59a_0_40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556" name="Google Shape;556;g3120ba7d59a_0_400"/>
          <p:cNvSpPr txBox="1"/>
          <p:nvPr/>
        </p:nvSpPr>
        <p:spPr>
          <a:xfrm>
            <a:off x="587375" y="3930350"/>
            <a:ext cx="6761400" cy="21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..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thread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Abort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57" name="Google Shape;557;g3120ba7d59a_0_400"/>
          <p:cNvSpPr txBox="1"/>
          <p:nvPr/>
        </p:nvSpPr>
        <p:spPr>
          <a:xfrm>
            <a:off x="587375" y="1425050"/>
            <a:ext cx="5990100" cy="25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thread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Thread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(()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try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..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catch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Thread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Abort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..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558" name="Google Shape;558;g3120ba7d59a_0_400"/>
          <p:cNvSpPr txBox="1"/>
          <p:nvPr/>
        </p:nvSpPr>
        <p:spPr>
          <a:xfrm>
            <a:off x="587375" y="3930350"/>
            <a:ext cx="30000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throw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g3120ba7d59a_0_418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Thread abort</a:t>
            </a:r>
            <a:endParaRPr/>
          </a:p>
        </p:txBody>
      </p:sp>
      <p:pic>
        <p:nvPicPr>
          <p:cNvPr id="564" name="Google Shape;564;g3120ba7d59a_0_4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565" name="Google Shape;565;g3120ba7d59a_0_418"/>
          <p:cNvSpPr txBox="1"/>
          <p:nvPr/>
        </p:nvSpPr>
        <p:spPr>
          <a:xfrm>
            <a:off x="587375" y="3930350"/>
            <a:ext cx="6761400" cy="21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..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thread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Abort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66" name="Google Shape;566;g3120ba7d59a_0_418"/>
          <p:cNvSpPr txBox="1"/>
          <p:nvPr/>
        </p:nvSpPr>
        <p:spPr>
          <a:xfrm>
            <a:off x="587375" y="1425050"/>
            <a:ext cx="5990100" cy="25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thread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Thread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(()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try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..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catch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ThreadAbortException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..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567" name="Google Shape;567;g3120ba7d59a_0_418"/>
          <p:cNvSpPr txBox="1"/>
          <p:nvPr/>
        </p:nvSpPr>
        <p:spPr>
          <a:xfrm>
            <a:off x="587375" y="3930350"/>
            <a:ext cx="48435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Thread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ResetAbort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20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120ba7d59a_0_427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Thread abort</a:t>
            </a:r>
            <a:endParaRPr/>
          </a:p>
        </p:txBody>
      </p:sp>
      <p:pic>
        <p:nvPicPr>
          <p:cNvPr id="573" name="Google Shape;573;g3120ba7d59a_0_4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4" name="Google Shape;574;g3120ba7d59a_0_4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28982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575" name="Google Shape;575;g3120ba7d59a_0_427"/>
          <p:cNvSpPr txBox="1"/>
          <p:nvPr/>
        </p:nvSpPr>
        <p:spPr>
          <a:xfrm>
            <a:off x="1203263" y="29855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Избегайте остановки потоков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76" name="Google Shape;576;g3120ba7d59a_0_4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4316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577" name="Google Shape;577;g3120ba7d59a_0_427"/>
          <p:cNvSpPr txBox="1"/>
          <p:nvPr/>
        </p:nvSpPr>
        <p:spPr>
          <a:xfrm>
            <a:off x="1203263" y="35189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Синхронизируйте потоки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g3120ba7d59a_0_439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Out of memory</a:t>
            </a:r>
            <a:endParaRPr/>
          </a:p>
        </p:txBody>
      </p:sp>
      <p:pic>
        <p:nvPicPr>
          <p:cNvPr id="583" name="Google Shape;583;g3120ba7d59a_0_4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584" name="Google Shape;584;g3120ba7d59a_0_439"/>
          <p:cNvSpPr txBox="1"/>
          <p:nvPr/>
        </p:nvSpPr>
        <p:spPr>
          <a:xfrm>
            <a:off x="587375" y="2113750"/>
            <a:ext cx="7487100" cy="383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LimitMemory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64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Mb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try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while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byte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SIZE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catch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OutOfMemoryException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Console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WriteLine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8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g3120ba7d59a_0_451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Out of memory</a:t>
            </a:r>
            <a:endParaRPr/>
          </a:p>
        </p:txBody>
      </p:sp>
      <p:pic>
        <p:nvPicPr>
          <p:cNvPr id="590" name="Google Shape;590;g3120ba7d59a_0_4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1" name="Google Shape;591;g3120ba7d59a_0_45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28982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g3120ba7d59a_0_451"/>
          <p:cNvSpPr txBox="1"/>
          <p:nvPr/>
        </p:nvSpPr>
        <p:spPr>
          <a:xfrm>
            <a:off x="1203263" y="29855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Исключение обработается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93" name="Google Shape;593;g3120ba7d59a_0_45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4316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g3120ba7d59a_0_451"/>
          <p:cNvSpPr txBox="1"/>
          <p:nvPr/>
        </p:nvSpPr>
        <p:spPr>
          <a:xfrm>
            <a:off x="1203263" y="35189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Процесс упадет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95" name="Google Shape;595;g3120ba7d59a_0_45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9650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596" name="Google Shape;596;g3120ba7d59a_0_451"/>
          <p:cNvSpPr txBox="1"/>
          <p:nvPr/>
        </p:nvSpPr>
        <p:spPr>
          <a:xfrm>
            <a:off x="1203263" y="40523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Зайдем в 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catch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, но исключение вылетит снова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97" name="Google Shape;597;g3120ba7d59a_0_45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44984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598" name="Google Shape;598;g3120ba7d59a_0_451"/>
          <p:cNvSpPr txBox="1"/>
          <p:nvPr/>
        </p:nvSpPr>
        <p:spPr>
          <a:xfrm>
            <a:off x="1203263" y="45857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Зайдем в 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catch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, но вылетит </a:t>
            </a:r>
            <a:r>
              <a:rPr lang="ru-RU" sz="20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StackOverflow 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3120ba7d59a_0_469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Out of memory</a:t>
            </a:r>
            <a:endParaRPr/>
          </a:p>
        </p:txBody>
      </p:sp>
      <p:pic>
        <p:nvPicPr>
          <p:cNvPr id="604" name="Google Shape;604;g3120ba7d59a_0_46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605" name="Google Shape;605;g3120ba7d59a_0_469"/>
          <p:cNvSpPr txBox="1"/>
          <p:nvPr/>
        </p:nvSpPr>
        <p:spPr>
          <a:xfrm>
            <a:off x="5006100" y="3468300"/>
            <a:ext cx="21798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Ответ…</a:t>
            </a:r>
            <a:endParaRPr sz="4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9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g3120ba7d59a_0_483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Out of memory</a:t>
            </a:r>
            <a:endParaRPr/>
          </a:p>
        </p:txBody>
      </p:sp>
      <p:pic>
        <p:nvPicPr>
          <p:cNvPr id="611" name="Google Shape;611;g3120ba7d59a_0_4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612" name="Google Shape;612;g3120ba7d59a_0_483"/>
          <p:cNvSpPr txBox="1"/>
          <p:nvPr/>
        </p:nvSpPr>
        <p:spPr>
          <a:xfrm>
            <a:off x="1203263" y="16139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Исключение обработается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13" name="Google Shape;613;g3120ba7d59a_0_483"/>
          <p:cNvSpPr txBox="1"/>
          <p:nvPr/>
        </p:nvSpPr>
        <p:spPr>
          <a:xfrm>
            <a:off x="1203263" y="21473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Процесс упадет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14" name="Google Shape;614;g3120ba7d59a_0_483"/>
          <p:cNvSpPr txBox="1"/>
          <p:nvPr/>
        </p:nvSpPr>
        <p:spPr>
          <a:xfrm>
            <a:off x="1203263" y="26807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Зайдем в 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catch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, но исключение вылетит снова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15" name="Google Shape;615;g3120ba7d59a_0_483"/>
          <p:cNvSpPr txBox="1"/>
          <p:nvPr/>
        </p:nvSpPr>
        <p:spPr>
          <a:xfrm>
            <a:off x="1203263" y="32141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Зайдем в 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catch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, но вылетит </a:t>
            </a:r>
            <a:r>
              <a:rPr lang="ru-RU" sz="20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StackOverflow 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16" name="Google Shape;616;g3120ba7d59a_0_48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3576" y="1537702"/>
            <a:ext cx="423900" cy="42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7" name="Google Shape;617;g3120ba7d59a_0_48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3576" y="2089252"/>
            <a:ext cx="423900" cy="42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8" name="Google Shape;618;g3120ba7d59a_0_48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3576" y="2604502"/>
            <a:ext cx="423900" cy="42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9" name="Google Shape;619;g3120ba7d59a_0_48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3576" y="3156052"/>
            <a:ext cx="423900" cy="423900"/>
          </a:xfrm>
          <a:prstGeom prst="rect">
            <a:avLst/>
          </a:prstGeom>
          <a:noFill/>
          <a:ln>
            <a:noFill/>
          </a:ln>
        </p:spPr>
      </p:pic>
      <p:sp>
        <p:nvSpPr>
          <p:cNvPr id="620" name="Google Shape;620;g3120ba7d59a_0_483"/>
          <p:cNvSpPr txBox="1"/>
          <p:nvPr/>
        </p:nvSpPr>
        <p:spPr>
          <a:xfrm>
            <a:off x="483800" y="3657300"/>
            <a:ext cx="11357400" cy="9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Unhandled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C8C8C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Cannot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because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Exception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ToString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failed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621" name="Google Shape;621;g3120ba7d59a_0_48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0000" y="4702900"/>
            <a:ext cx="6534150" cy="1743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g3120ba7d59a_0_510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Finally</a:t>
            </a:r>
            <a:endParaRPr/>
          </a:p>
        </p:txBody>
      </p:sp>
      <p:pic>
        <p:nvPicPr>
          <p:cNvPr id="627" name="Google Shape;627;g3120ba7d59a_0_5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628" name="Google Shape;628;g3120ba7d59a_0_510"/>
          <p:cNvSpPr txBox="1"/>
          <p:nvPr/>
        </p:nvSpPr>
        <p:spPr>
          <a:xfrm>
            <a:off x="587375" y="1935700"/>
            <a:ext cx="7214700" cy="425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File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bigFile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CreateFile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try</a:t>
            </a:r>
            <a:endParaRPr sz="2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bigFile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WriteRandomData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Gb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ExecuteTests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bigFile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finally</a:t>
            </a:r>
            <a:endParaRPr sz="2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bigFile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Delete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g3120ba7d59a_0_528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Finally</a:t>
            </a:r>
            <a:endParaRPr/>
          </a:p>
        </p:txBody>
      </p:sp>
      <p:pic>
        <p:nvPicPr>
          <p:cNvPr id="634" name="Google Shape;634;g3120ba7d59a_0_5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635" name="Google Shape;635;g3120ba7d59a_0_528"/>
          <p:cNvSpPr txBox="1"/>
          <p:nvPr/>
        </p:nvSpPr>
        <p:spPr>
          <a:xfrm>
            <a:off x="587375" y="2418400"/>
            <a:ext cx="8012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Блок </a:t>
            </a: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finally выполняется не всегда: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36" name="Google Shape;636;g3120ba7d59a_0_5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962" y="30016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637" name="Google Shape;637;g3120ba7d59a_0_528"/>
          <p:cNvSpPr txBox="1"/>
          <p:nvPr/>
        </p:nvSpPr>
        <p:spPr>
          <a:xfrm>
            <a:off x="1249838" y="30889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Необрабатываемые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 исключения (</a:t>
            </a:r>
            <a:r>
              <a:rPr lang="ru-RU" sz="20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StackOverflow</a:t>
            </a: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38" name="Google Shape;638;g3120ba7d59a_0_5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962" y="34588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g3120ba7d59a_0_528"/>
          <p:cNvSpPr txBox="1"/>
          <p:nvPr/>
        </p:nvSpPr>
        <p:spPr>
          <a:xfrm>
            <a:off x="1249838" y="35461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Завершение процесса (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Environment</a:t>
            </a:r>
            <a:r>
              <a:rPr lang="ru-RU" sz="2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Exit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40" name="Google Shape;640;g3120ba7d59a_0_5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962" y="39160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641" name="Google Shape;641;g3120ba7d59a_0_528"/>
          <p:cNvSpPr txBox="1"/>
          <p:nvPr/>
        </p:nvSpPr>
        <p:spPr>
          <a:xfrm>
            <a:off x="1249838" y="40033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Другие случаи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42" name="Google Shape;642;g3120ba7d59a_0_528"/>
          <p:cNvSpPr txBox="1"/>
          <p:nvPr/>
        </p:nvSpPr>
        <p:spPr>
          <a:xfrm>
            <a:off x="633950" y="4748550"/>
            <a:ext cx="8012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Когда использовать</a:t>
            </a: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: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43" name="Google Shape;643;g3120ba7d59a_0_5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0537" y="533176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644" name="Google Shape;644;g3120ba7d59a_0_528"/>
          <p:cNvSpPr txBox="1"/>
          <p:nvPr/>
        </p:nvSpPr>
        <p:spPr>
          <a:xfrm>
            <a:off x="1296413" y="541905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Стандартное использование - 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try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/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catch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/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finally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g3665e2fb9b3_1_0"/>
          <p:cNvSpPr txBox="1"/>
          <p:nvPr>
            <p:ph type="title"/>
          </p:nvPr>
        </p:nvSpPr>
        <p:spPr>
          <a:xfrm>
            <a:off x="594749" y="584200"/>
            <a:ext cx="5400000" cy="301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ru-RU"/>
              <a:t>Functional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ru-RU"/>
              <a:t>programming</a:t>
            </a:r>
            <a:endParaRPr/>
          </a:p>
        </p:txBody>
      </p:sp>
      <p:sp>
        <p:nvSpPr>
          <p:cNvPr id="651" name="Google Shape;651;g3665e2fb9b3_1_0"/>
          <p:cNvSpPr txBox="1"/>
          <p:nvPr>
            <p:ph idx="3" type="body"/>
          </p:nvPr>
        </p:nvSpPr>
        <p:spPr>
          <a:xfrm>
            <a:off x="8183217" y="5961666"/>
            <a:ext cx="34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/>
              <a:t>kontur.ru</a:t>
            </a:r>
            <a:endParaRPr/>
          </a:p>
        </p:txBody>
      </p:sp>
      <p:sp>
        <p:nvSpPr>
          <p:cNvPr id="652" name="Google Shape;652;g3665e2fb9b3_1_0"/>
          <p:cNvSpPr txBox="1"/>
          <p:nvPr/>
        </p:nvSpPr>
        <p:spPr>
          <a:xfrm>
            <a:off x="587375" y="3276400"/>
            <a:ext cx="67278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1800">
                <a:solidFill>
                  <a:schemeClr val="dk1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https://github.com/kontur-courses/</a:t>
            </a:r>
            <a:r>
              <a:rPr b="1" lang="ru-RU" sz="1800">
                <a:solidFill>
                  <a:schemeClr val="dk1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exceptions</a:t>
            </a:r>
            <a:endParaRPr b="1" i="0" sz="1800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53" name="Google Shape;653;g3665e2fb9b3_1_0"/>
          <p:cNvSpPr txBox="1"/>
          <p:nvPr/>
        </p:nvSpPr>
        <p:spPr>
          <a:xfrm>
            <a:off x="594748" y="4194658"/>
            <a:ext cx="5400000" cy="3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Евгений Редько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54" name="Google Shape;654;g3665e2fb9b3_1_0"/>
          <p:cNvSpPr txBox="1"/>
          <p:nvPr/>
        </p:nvSpPr>
        <p:spPr>
          <a:xfrm>
            <a:off x="594748" y="4598572"/>
            <a:ext cx="5400000" cy="6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Ведущий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 инженер-программист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55" name="Google Shape;655;g3665e2fb9b3_1_0" title="6532277074.jpg"/>
          <p:cNvPicPr preferRelativeResize="0"/>
          <p:nvPr>
            <p:ph idx="4" type="pic"/>
          </p:nvPr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44300" y="584201"/>
            <a:ext cx="3959400" cy="3959400"/>
          </a:xfrm>
          <a:prstGeom prst="roundRect">
            <a:avLst>
              <a:gd fmla="val 16667" name="adj"/>
            </a:avLst>
          </a:prstGeom>
          <a:noFill/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g3665e2fb9b3_1_10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Функциональный стиль</a:t>
            </a:r>
            <a:endParaRPr/>
          </a:p>
        </p:txBody>
      </p:sp>
      <p:pic>
        <p:nvPicPr>
          <p:cNvPr id="661" name="Google Shape;661;g3665e2fb9b3_1_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2" name="Google Shape;662;g3665e2fb9b3_1_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28982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663" name="Google Shape;663;g3665e2fb9b3_1_10"/>
          <p:cNvSpPr txBox="1"/>
          <p:nvPr/>
        </p:nvSpPr>
        <p:spPr>
          <a:xfrm>
            <a:off x="1203263" y="29855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Неизменяемые 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Value-объекты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64" name="Google Shape;664;g3665e2fb9b3_1_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4316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665" name="Google Shape;665;g3665e2fb9b3_1_10"/>
          <p:cNvSpPr txBox="1"/>
          <p:nvPr/>
        </p:nvSpPr>
        <p:spPr>
          <a:xfrm>
            <a:off x="1203263" y="35189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Чистые функции, принимающие и возвращающие 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Value-объекты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66" name="Google Shape;666;g3665e2fb9b3_1_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9650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g3665e2fb9b3_1_10"/>
          <p:cNvSpPr txBox="1"/>
          <p:nvPr/>
        </p:nvSpPr>
        <p:spPr>
          <a:xfrm>
            <a:off x="1203263" y="40523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Функции Высшего Порядка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 вместо DI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68" name="Google Shape;668;g3665e2fb9b3_1_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44984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g3665e2fb9b3_1_10"/>
          <p:cNvSpPr txBox="1"/>
          <p:nvPr/>
        </p:nvSpPr>
        <p:spPr>
          <a:xfrm>
            <a:off x="1203263" y="45857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Побочные эффекты примешиваются к чистым ФВП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g3665e2fb9b3_1_23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Почему стоит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использовать?</a:t>
            </a:r>
            <a:endParaRPr/>
          </a:p>
        </p:txBody>
      </p:sp>
      <p:pic>
        <p:nvPicPr>
          <p:cNvPr id="675" name="Google Shape;675;g3665e2fb9b3_1_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76" name="Google Shape;676;g3665e2fb9b3_1_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28982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677" name="Google Shape;677;g3665e2fb9b3_1_23"/>
          <p:cNvSpPr txBox="1"/>
          <p:nvPr/>
        </p:nvSpPr>
        <p:spPr>
          <a:xfrm>
            <a:off x="1203263" y="29855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Потокобезопасно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78" name="Google Shape;678;g3665e2fb9b3_1_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4316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g3665e2fb9b3_1_23"/>
          <p:cNvSpPr txBox="1"/>
          <p:nvPr/>
        </p:nvSpPr>
        <p:spPr>
          <a:xfrm>
            <a:off x="1203263" y="35189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Меньше зависимостей / boilerplate кода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80" name="Google Shape;680;g3665e2fb9b3_1_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9650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681" name="Google Shape;681;g3665e2fb9b3_1_23"/>
          <p:cNvSpPr txBox="1"/>
          <p:nvPr/>
        </p:nvSpPr>
        <p:spPr>
          <a:xfrm>
            <a:off x="1203263" y="40523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Меньше подвохов, проще доказывать свойства кода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82" name="Google Shape;682;g3665e2fb9b3_1_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44984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683" name="Google Shape;683;g3665e2fb9b3_1_23"/>
          <p:cNvSpPr txBox="1"/>
          <p:nvPr/>
        </p:nvSpPr>
        <p:spPr>
          <a:xfrm>
            <a:off x="1203263" y="45857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Код читается, как объясняется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687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g3665e2fb9b3_1_37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Как использовать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в работе?</a:t>
            </a:r>
            <a:endParaRPr/>
          </a:p>
        </p:txBody>
      </p:sp>
      <p:pic>
        <p:nvPicPr>
          <p:cNvPr id="689" name="Google Shape;689;g3665e2fb9b3_1_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0" name="Google Shape;690;g3665e2fb9b3_1_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28982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691" name="Google Shape;691;g3665e2fb9b3_1_37"/>
          <p:cNvSpPr txBox="1"/>
          <p:nvPr/>
        </p:nvSpPr>
        <p:spPr>
          <a:xfrm>
            <a:off x="1203263" y="29855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Неизменяемые типы?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92" name="Google Shape;692;g3665e2fb9b3_1_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4316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693" name="Google Shape;693;g3665e2fb9b3_1_37"/>
          <p:cNvSpPr txBox="1"/>
          <p:nvPr/>
        </p:nvSpPr>
        <p:spPr>
          <a:xfrm>
            <a:off x="1203263" y="35189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Чистые функции?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94" name="Google Shape;694;g3665e2fb9b3_1_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9650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695" name="Google Shape;695;g3665e2fb9b3_1_37"/>
          <p:cNvSpPr txBox="1"/>
          <p:nvPr/>
        </p:nvSpPr>
        <p:spPr>
          <a:xfrm>
            <a:off x="1203263" y="40523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Зависимости?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96" name="Google Shape;696;g3665e2fb9b3_1_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44984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697" name="Google Shape;697;g3665e2fb9b3_1_37"/>
          <p:cNvSpPr txBox="1"/>
          <p:nvPr/>
        </p:nvSpPr>
        <p:spPr>
          <a:xfrm>
            <a:off x="1203263" y="458570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Тестирование?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98" name="Google Shape;698;g3665e2fb9b3_1_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5082054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699" name="Google Shape;699;g3665e2fb9b3_1_37"/>
          <p:cNvSpPr txBox="1"/>
          <p:nvPr/>
        </p:nvSpPr>
        <p:spPr>
          <a:xfrm>
            <a:off x="1203263" y="5169342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Понятность и декомпозиция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?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00" name="Google Shape;700;g3665e2fb9b3_1_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562744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701" name="Google Shape;701;g3665e2fb9b3_1_37"/>
          <p:cNvSpPr txBox="1"/>
          <p:nvPr/>
        </p:nvSpPr>
        <p:spPr>
          <a:xfrm>
            <a:off x="1203263" y="5714736"/>
            <a:ext cx="8827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Обработка ошибок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?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05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g3665e2fb9b3_1_54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Неизменяемые типы</a:t>
            </a:r>
            <a:endParaRPr/>
          </a:p>
        </p:txBody>
      </p:sp>
      <p:pic>
        <p:nvPicPr>
          <p:cNvPr id="707" name="Google Shape;707;g3665e2fb9b3_1_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1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g3665e2fb9b3_1_71"/>
          <p:cNvSpPr txBox="1"/>
          <p:nvPr>
            <p:ph type="title"/>
          </p:nvPr>
        </p:nvSpPr>
        <p:spPr>
          <a:xfrm>
            <a:off x="587375" y="584200"/>
            <a:ext cx="61182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Mutable Cat</a:t>
            </a:r>
            <a:endParaRPr/>
          </a:p>
        </p:txBody>
      </p:sp>
      <p:sp>
        <p:nvSpPr>
          <p:cNvPr id="713" name="Google Shape;713;g3665e2fb9b3_1_71"/>
          <p:cNvSpPr txBox="1"/>
          <p:nvPr/>
        </p:nvSpPr>
        <p:spPr>
          <a:xfrm>
            <a:off x="587375" y="1797550"/>
            <a:ext cx="6853200" cy="445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4EC9B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Cat</a:t>
            </a:r>
            <a:endParaRPr sz="2100">
              <a:solidFill>
                <a:srgbClr val="4EC9B0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Name {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Hungry {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t/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DCDCAA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Feed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Hungry =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100">
              <a:solidFill>
                <a:srgbClr val="569CD6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714" name="Google Shape;714;g3665e2fb9b3_1_7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18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g3665e2fb9b3_1_78"/>
          <p:cNvSpPr txBox="1"/>
          <p:nvPr>
            <p:ph type="title"/>
          </p:nvPr>
        </p:nvSpPr>
        <p:spPr>
          <a:xfrm>
            <a:off x="587375" y="584200"/>
            <a:ext cx="61182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Immutable Cat</a:t>
            </a:r>
            <a:endParaRPr/>
          </a:p>
        </p:txBody>
      </p:sp>
      <p:sp>
        <p:nvSpPr>
          <p:cNvPr id="720" name="Google Shape;720;g3665e2fb9b3_1_78"/>
          <p:cNvSpPr txBox="1"/>
          <p:nvPr/>
        </p:nvSpPr>
        <p:spPr>
          <a:xfrm>
            <a:off x="587375" y="1797550"/>
            <a:ext cx="7437900" cy="401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4EC9B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Cat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4EC9B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Cat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name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isHungry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Hungry =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isHungry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Name =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name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Name {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Hungry {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4EC9B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Cat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DCDCAA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Feed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() =&gt;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4EC9B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Cat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(Name,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100">
              <a:solidFill>
                <a:srgbClr val="569CD6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721" name="Google Shape;721;g3665e2fb9b3_1_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25" name="Shape 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Google Shape;726;g3665e2fb9b3_1_85"/>
          <p:cNvSpPr txBox="1"/>
          <p:nvPr>
            <p:ph type="title"/>
          </p:nvPr>
        </p:nvSpPr>
        <p:spPr>
          <a:xfrm>
            <a:off x="587375" y="584200"/>
            <a:ext cx="61182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C# 9.0</a:t>
            </a:r>
            <a:endParaRPr/>
          </a:p>
        </p:txBody>
      </p:sp>
      <p:sp>
        <p:nvSpPr>
          <p:cNvPr id="727" name="Google Shape;727;g3665e2fb9b3_1_85"/>
          <p:cNvSpPr txBox="1"/>
          <p:nvPr/>
        </p:nvSpPr>
        <p:spPr>
          <a:xfrm>
            <a:off x="587375" y="1831797"/>
            <a:ext cx="74379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record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4EC9B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Cat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Name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Hungry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fullCat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hungryCat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with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Hungry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};</a:t>
            </a:r>
            <a:endParaRPr sz="2100">
              <a:solidFill>
                <a:srgbClr val="569CD6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728" name="Google Shape;728;g3665e2fb9b3_1_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3665e2fb9b3_1_92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System.Collection.Immutable</a:t>
            </a:r>
            <a:endParaRPr/>
          </a:p>
        </p:txBody>
      </p:sp>
      <p:sp>
        <p:nvSpPr>
          <p:cNvPr id="734" name="Google Shape;734;g3665e2fb9b3_1_92"/>
          <p:cNvSpPr txBox="1"/>
          <p:nvPr/>
        </p:nvSpPr>
        <p:spPr>
          <a:xfrm>
            <a:off x="587375" y="1831797"/>
            <a:ext cx="7437900" cy="357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ImmutableArray</a:t>
            </a:r>
            <a:endParaRPr sz="2100">
              <a:solidFill>
                <a:srgbClr val="9CDCFE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ImmutableDictionary</a:t>
            </a:r>
            <a:endParaRPr sz="2100">
              <a:solidFill>
                <a:srgbClr val="9CDCFE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ImmutableSortedDictionary</a:t>
            </a:r>
            <a:endParaRPr sz="2100">
              <a:solidFill>
                <a:srgbClr val="9CDCFE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ImmutableHashSet</a:t>
            </a:r>
            <a:endParaRPr sz="2100">
              <a:solidFill>
                <a:srgbClr val="9CDCFE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ImmutableList</a:t>
            </a:r>
            <a:endParaRPr sz="2100">
              <a:solidFill>
                <a:srgbClr val="9CDCFE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ImmutableQueue</a:t>
            </a:r>
            <a:endParaRPr sz="2100">
              <a:solidFill>
                <a:srgbClr val="9CDCFE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ImmutableSortedSet</a:t>
            </a:r>
            <a:endParaRPr sz="2100">
              <a:solidFill>
                <a:srgbClr val="9CDCFE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ImmutableStack</a:t>
            </a:r>
            <a:endParaRPr sz="2100">
              <a:solidFill>
                <a:srgbClr val="569CD6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5" name="Google Shape;735;g3665e2fb9b3_1_92"/>
          <p:cNvSpPr txBox="1"/>
          <p:nvPr/>
        </p:nvSpPr>
        <p:spPr>
          <a:xfrm>
            <a:off x="4069650" y="5548050"/>
            <a:ext cx="40527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3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Get from NuGet!</a:t>
            </a:r>
            <a:endParaRPr b="1" sz="3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3665e2fb9b3_1_100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struct NEVER THROWS</a:t>
            </a:r>
            <a:endParaRPr/>
          </a:p>
        </p:txBody>
      </p:sp>
      <p:sp>
        <p:nvSpPr>
          <p:cNvPr id="741" name="Google Shape;741;g3665e2fb9b3_1_100"/>
          <p:cNvSpPr txBox="1"/>
          <p:nvPr/>
        </p:nvSpPr>
        <p:spPr>
          <a:xfrm>
            <a:off x="587375" y="2321972"/>
            <a:ext cx="74379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>
                <a:solidFill>
                  <a:srgbClr val="EA9999"/>
                </a:solidFill>
                <a:latin typeface="Consolas"/>
                <a:ea typeface="Consolas"/>
                <a:cs typeface="Consolas"/>
                <a:sym typeface="Consolas"/>
              </a:rPr>
              <a:t>NullReferenceException</a:t>
            </a:r>
            <a:endParaRPr sz="3200">
              <a:solidFill>
                <a:srgbClr val="EA999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742" name="Google Shape;742;g3665e2fb9b3_1_10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46" name="Shape 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Google Shape;747;g3665e2fb9b3_3_0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Чистые функции</a:t>
            </a:r>
            <a:endParaRPr/>
          </a:p>
        </p:txBody>
      </p:sp>
      <p:pic>
        <p:nvPicPr>
          <p:cNvPr id="748" name="Google Shape;748;g3665e2fb9b3_3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52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3" name="Google Shape;753;g3665e2fb9b3_3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65620"/>
          </a:xfrm>
          <a:prstGeom prst="rect">
            <a:avLst/>
          </a:prstGeom>
          <a:noFill/>
          <a:ln>
            <a:noFill/>
          </a:ln>
        </p:spPr>
      </p:pic>
      <p:sp>
        <p:nvSpPr>
          <p:cNvPr id="754" name="Google Shape;754;g3665e2fb9b3_3_7"/>
          <p:cNvSpPr/>
          <p:nvPr/>
        </p:nvSpPr>
        <p:spPr>
          <a:xfrm>
            <a:off x="527750" y="5570850"/>
            <a:ext cx="5753400" cy="6771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55" name="Google Shape;755;g3665e2fb9b3_3_7"/>
          <p:cNvSpPr txBox="1"/>
          <p:nvPr/>
        </p:nvSpPr>
        <p:spPr>
          <a:xfrm>
            <a:off x="639250" y="5570850"/>
            <a:ext cx="55824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>
                <a:solidFill>
                  <a:srgbClr val="EA9999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Не все может быть чистым</a:t>
            </a:r>
            <a:endParaRPr sz="3200">
              <a:solidFill>
                <a:srgbClr val="EA9999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0" name="Google Shape;760;g3665e2fb9b3_3_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761" name="Google Shape;761;g3665e2fb9b3_3_15"/>
          <p:cNvSpPr/>
          <p:nvPr/>
        </p:nvSpPr>
        <p:spPr>
          <a:xfrm>
            <a:off x="3396000" y="729000"/>
            <a:ext cx="5400000" cy="5400000"/>
          </a:xfrm>
          <a:prstGeom prst="ellipse">
            <a:avLst/>
          </a:prstGeom>
          <a:solidFill>
            <a:schemeClr val="dk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62" name="Google Shape;762;g3665e2fb9b3_3_15"/>
          <p:cNvSpPr/>
          <p:nvPr/>
        </p:nvSpPr>
        <p:spPr>
          <a:xfrm>
            <a:off x="4656000" y="1989000"/>
            <a:ext cx="2880000" cy="2880000"/>
          </a:xfrm>
          <a:prstGeom prst="ellipse">
            <a:avLst/>
          </a:prstGeom>
          <a:solidFill>
            <a:srgbClr val="4343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63" name="Google Shape;763;g3665e2fb9b3_3_15"/>
          <p:cNvSpPr txBox="1"/>
          <p:nvPr/>
        </p:nvSpPr>
        <p:spPr>
          <a:xfrm>
            <a:off x="5057100" y="2690250"/>
            <a:ext cx="20778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Логика</a:t>
            </a:r>
            <a:endParaRPr b="1"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Чистые</a:t>
            </a:r>
            <a:endParaRPr b="1"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функции</a:t>
            </a:r>
            <a:endParaRPr b="1"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64" name="Google Shape;764;g3665e2fb9b3_3_15"/>
          <p:cNvSpPr txBox="1"/>
          <p:nvPr/>
        </p:nvSpPr>
        <p:spPr>
          <a:xfrm>
            <a:off x="4606200" y="1187244"/>
            <a:ext cx="2979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Side-эффекты</a:t>
            </a:r>
            <a:endParaRPr b="1" sz="2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3665e2fb9b3_3_24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Зависимости</a:t>
            </a:r>
            <a:endParaRPr/>
          </a:p>
        </p:txBody>
      </p:sp>
      <p:pic>
        <p:nvPicPr>
          <p:cNvPr id="770" name="Google Shape;770;g3665e2fb9b3_3_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74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g3665e2fb9b3_3_29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Устранение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зависимостей</a:t>
            </a:r>
            <a:endParaRPr/>
          </a:p>
        </p:txBody>
      </p:sp>
      <p:pic>
        <p:nvPicPr>
          <p:cNvPr id="776" name="Google Shape;776;g3665e2fb9b3_3_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777" name="Google Shape;777;g3665e2fb9b3_3_29"/>
          <p:cNvSpPr txBox="1"/>
          <p:nvPr/>
        </p:nvSpPr>
        <p:spPr>
          <a:xfrm>
            <a:off x="587375" y="3137775"/>
            <a:ext cx="3883200" cy="23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Поставщик данных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Получатель результата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interface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78" name="Google Shape;778;g3665e2fb9b3_3_29"/>
          <p:cNvSpPr txBox="1"/>
          <p:nvPr/>
        </p:nvSpPr>
        <p:spPr>
          <a:xfrm>
            <a:off x="5822425" y="3137775"/>
            <a:ext cx="4258200" cy="26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Данные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return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Func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79" name="Google Shape;779;g3665e2fb9b3_3_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56653" y="3082792"/>
            <a:ext cx="540000" cy="54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0" name="Google Shape;780;g3665e2fb9b3_3_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56653" y="3692392"/>
            <a:ext cx="540000" cy="54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1" name="Google Shape;781;g3665e2fb9b3_3_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56653" y="4301992"/>
            <a:ext cx="540000" cy="54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85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g3665e2fb9b3_3_40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Слой внешних зависимостей</a:t>
            </a:r>
            <a:endParaRPr/>
          </a:p>
        </p:txBody>
      </p:sp>
      <p:pic>
        <p:nvPicPr>
          <p:cNvPr id="787" name="Google Shape;787;g3665e2fb9b3_3_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788" name="Google Shape;788;g3665e2fb9b3_3_40"/>
          <p:cNvSpPr/>
          <p:nvPr/>
        </p:nvSpPr>
        <p:spPr>
          <a:xfrm>
            <a:off x="587372" y="2706825"/>
            <a:ext cx="2880000" cy="3240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89" name="Google Shape;789;g3665e2fb9b3_3_40"/>
          <p:cNvSpPr/>
          <p:nvPr/>
        </p:nvSpPr>
        <p:spPr>
          <a:xfrm>
            <a:off x="947372" y="3066825"/>
            <a:ext cx="2160000" cy="25200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90" name="Google Shape;790;g3665e2fb9b3_3_40"/>
          <p:cNvSpPr txBox="1"/>
          <p:nvPr/>
        </p:nvSpPr>
        <p:spPr>
          <a:xfrm>
            <a:off x="3881350" y="3156975"/>
            <a:ext cx="5696400" cy="23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БД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Файловая система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Http</a:t>
            </a: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-клиент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Пользователь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…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g3665e2fb9b3_3_53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Command query separation</a:t>
            </a:r>
            <a:endParaRPr/>
          </a:p>
        </p:txBody>
      </p:sp>
      <p:pic>
        <p:nvPicPr>
          <p:cNvPr id="796" name="Google Shape;796;g3665e2fb9b3_3_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797" name="Google Shape;797;g3665e2fb9b3_3_53"/>
          <p:cNvSpPr/>
          <p:nvPr/>
        </p:nvSpPr>
        <p:spPr>
          <a:xfrm>
            <a:off x="4156322" y="2501350"/>
            <a:ext cx="2880000" cy="3240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98" name="Google Shape;798;g3665e2fb9b3_3_53"/>
          <p:cNvSpPr/>
          <p:nvPr/>
        </p:nvSpPr>
        <p:spPr>
          <a:xfrm>
            <a:off x="4516322" y="2861350"/>
            <a:ext cx="2160000" cy="25200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99" name="Google Shape;799;g3665e2fb9b3_3_53"/>
          <p:cNvSpPr txBox="1"/>
          <p:nvPr/>
        </p:nvSpPr>
        <p:spPr>
          <a:xfrm>
            <a:off x="1827026" y="2951500"/>
            <a:ext cx="1451700" cy="23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Query</a:t>
            </a:r>
            <a:endParaRPr b="1" sz="28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Input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Read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Get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00" name="Google Shape;800;g3665e2fb9b3_3_53"/>
          <p:cNvSpPr txBox="1"/>
          <p:nvPr/>
        </p:nvSpPr>
        <p:spPr>
          <a:xfrm>
            <a:off x="7991000" y="2951500"/>
            <a:ext cx="2490000" cy="23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Command</a:t>
            </a:r>
            <a:endParaRPr b="1" sz="28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Output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Write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Post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01" name="Google Shape;801;g3665e2fb9b3_3_53"/>
          <p:cNvSpPr/>
          <p:nvPr/>
        </p:nvSpPr>
        <p:spPr>
          <a:xfrm>
            <a:off x="3566894" y="4398445"/>
            <a:ext cx="855600" cy="2880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9999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02" name="Google Shape;802;g3665e2fb9b3_3_53"/>
          <p:cNvSpPr/>
          <p:nvPr/>
        </p:nvSpPr>
        <p:spPr>
          <a:xfrm>
            <a:off x="6801544" y="4398445"/>
            <a:ext cx="855600" cy="2880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9999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g3665e2fb9b3_3_65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Тестирование</a:t>
            </a:r>
            <a:endParaRPr/>
          </a:p>
        </p:txBody>
      </p:sp>
      <p:pic>
        <p:nvPicPr>
          <p:cNvPr id="808" name="Google Shape;808;g3665e2fb9b3_3_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g3665e2fb9b3_3_70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State Unit Testing</a:t>
            </a:r>
            <a:endParaRPr/>
          </a:p>
        </p:txBody>
      </p:sp>
      <p:pic>
        <p:nvPicPr>
          <p:cNvPr id="814" name="Google Shape;814;g3665e2fb9b3_3_7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815" name="Google Shape;815;g3665e2fb9b3_3_70"/>
          <p:cNvSpPr/>
          <p:nvPr/>
        </p:nvSpPr>
        <p:spPr>
          <a:xfrm>
            <a:off x="4805038" y="3041250"/>
            <a:ext cx="1666500" cy="775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16" name="Google Shape;816;g3665e2fb9b3_3_70"/>
          <p:cNvSpPr txBox="1"/>
          <p:nvPr/>
        </p:nvSpPr>
        <p:spPr>
          <a:xfrm>
            <a:off x="5063488" y="3090450"/>
            <a:ext cx="11496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3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Unit</a:t>
            </a:r>
            <a:endParaRPr b="1" sz="3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17" name="Google Shape;817;g3665e2fb9b3_3_7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22177" y="3158992"/>
            <a:ext cx="540000" cy="54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8" name="Google Shape;818;g3665e2fb9b3_3_7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30454" y="3158992"/>
            <a:ext cx="540000" cy="5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9" name="Google Shape;819;g3665e2fb9b3_3_70"/>
          <p:cNvSpPr txBox="1"/>
          <p:nvPr/>
        </p:nvSpPr>
        <p:spPr>
          <a:xfrm>
            <a:off x="-98027" y="3105525"/>
            <a:ext cx="3694500" cy="19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Input</a:t>
            </a:r>
            <a:endParaRPr b="1" sz="28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Values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Functions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Higher Order Functions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20" name="Google Shape;820;g3665e2fb9b3_3_70"/>
          <p:cNvSpPr txBox="1"/>
          <p:nvPr/>
        </p:nvSpPr>
        <p:spPr>
          <a:xfrm>
            <a:off x="7643400" y="3150088"/>
            <a:ext cx="24900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Output</a:t>
            </a:r>
            <a:endParaRPr b="1" sz="28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824" name="Shape 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Google Shape;825;g3665e2fb9b3_3_84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Integration Testing</a:t>
            </a:r>
            <a:endParaRPr/>
          </a:p>
        </p:txBody>
      </p:sp>
      <p:pic>
        <p:nvPicPr>
          <p:cNvPr id="826" name="Google Shape;826;g3665e2fb9b3_3_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827" name="Google Shape;827;g3665e2fb9b3_3_84"/>
          <p:cNvSpPr/>
          <p:nvPr/>
        </p:nvSpPr>
        <p:spPr>
          <a:xfrm>
            <a:off x="1143122" y="2519175"/>
            <a:ext cx="2880000" cy="3240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28" name="Google Shape;828;g3665e2fb9b3_3_84"/>
          <p:cNvSpPr/>
          <p:nvPr/>
        </p:nvSpPr>
        <p:spPr>
          <a:xfrm>
            <a:off x="1503122" y="2879175"/>
            <a:ext cx="2160000" cy="25200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29" name="Google Shape;829;g3665e2fb9b3_3_84"/>
          <p:cNvSpPr/>
          <p:nvPr/>
        </p:nvSpPr>
        <p:spPr>
          <a:xfrm>
            <a:off x="587363" y="4101650"/>
            <a:ext cx="855600" cy="2880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9999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30" name="Google Shape;830;g3665e2fb9b3_3_84"/>
          <p:cNvSpPr/>
          <p:nvPr/>
        </p:nvSpPr>
        <p:spPr>
          <a:xfrm>
            <a:off x="1503125" y="2879175"/>
            <a:ext cx="2160000" cy="838800"/>
          </a:xfrm>
          <a:prstGeom prst="rect">
            <a:avLst/>
          </a:prstGeom>
          <a:solidFill>
            <a:srgbClr val="434343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31" name="Google Shape;831;g3665e2fb9b3_3_84"/>
          <p:cNvSpPr/>
          <p:nvPr/>
        </p:nvSpPr>
        <p:spPr>
          <a:xfrm>
            <a:off x="1503125" y="3719775"/>
            <a:ext cx="2160000" cy="838800"/>
          </a:xfrm>
          <a:prstGeom prst="rect">
            <a:avLst/>
          </a:prstGeom>
          <a:solidFill>
            <a:srgbClr val="434343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32" name="Google Shape;832;g3665e2fb9b3_3_84"/>
          <p:cNvSpPr txBox="1"/>
          <p:nvPr/>
        </p:nvSpPr>
        <p:spPr>
          <a:xfrm>
            <a:off x="1863875" y="2990775"/>
            <a:ext cx="14385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Unit 1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33" name="Google Shape;833;g3665e2fb9b3_3_84"/>
          <p:cNvSpPr txBox="1"/>
          <p:nvPr/>
        </p:nvSpPr>
        <p:spPr>
          <a:xfrm>
            <a:off x="1863875" y="3831375"/>
            <a:ext cx="14385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Unit 2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34" name="Google Shape;834;g3665e2fb9b3_3_84"/>
          <p:cNvSpPr txBox="1"/>
          <p:nvPr/>
        </p:nvSpPr>
        <p:spPr>
          <a:xfrm>
            <a:off x="1863875" y="4671975"/>
            <a:ext cx="14385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Unit 3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35" name="Google Shape;835;g3665e2fb9b3_3_84"/>
          <p:cNvSpPr txBox="1"/>
          <p:nvPr/>
        </p:nvSpPr>
        <p:spPr>
          <a:xfrm>
            <a:off x="5810600" y="3093675"/>
            <a:ext cx="5593800" cy="19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~ 1-2 интеграционных теста с использованием тестовых заглушек или полноценной реализации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36" name="Google Shape;836;g3665e2fb9b3_3_84"/>
          <p:cNvSpPr/>
          <p:nvPr/>
        </p:nvSpPr>
        <p:spPr>
          <a:xfrm>
            <a:off x="3822013" y="4101650"/>
            <a:ext cx="855600" cy="2880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9999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840" name="Shape 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Google Shape;841;g3665e2fb9b3_3_105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Понятность и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декомпозиция</a:t>
            </a:r>
            <a:endParaRPr/>
          </a:p>
        </p:txBody>
      </p:sp>
      <p:pic>
        <p:nvPicPr>
          <p:cNvPr id="842" name="Google Shape;842;g3665e2fb9b3_3_10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846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3665e2fb9b3_3_110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Понятность</a:t>
            </a:r>
            <a:endParaRPr/>
          </a:p>
        </p:txBody>
      </p:sp>
      <p:sp>
        <p:nvSpPr>
          <p:cNvPr id="848" name="Google Shape;848;g3665e2fb9b3_3_110"/>
          <p:cNvSpPr txBox="1"/>
          <p:nvPr/>
        </p:nvSpPr>
        <p:spPr>
          <a:xfrm>
            <a:off x="587375" y="2089075"/>
            <a:ext cx="6575400" cy="401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count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ru-RU" sz="2100">
                <a:solidFill>
                  <a:srgbClr val="B5CEA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C586C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ru-RU" sz="2100">
                <a:solidFill>
                  <a:srgbClr val="B5CEA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2100">
                <a:solidFill>
                  <a:srgbClr val="B5CEA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100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++) {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C586C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ru-RU" sz="2100">
                <a:solidFill>
                  <a:srgbClr val="B5CEA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!= </a:t>
            </a:r>
            <a:r>
              <a:rPr lang="ru-RU" sz="2100">
                <a:solidFill>
                  <a:srgbClr val="B5CEA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ru-RU" sz="2100">
                <a:solidFill>
                  <a:srgbClr val="C586C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continue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C586C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C586C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ru-RU" sz="2100">
                <a:solidFill>
                  <a:srgbClr val="B5CEA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!= </a:t>
            </a:r>
            <a:r>
              <a:rPr lang="ru-RU" sz="2100">
                <a:solidFill>
                  <a:srgbClr val="B5CEA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ru-RU" sz="2100">
                <a:solidFill>
                  <a:srgbClr val="C586C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continue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count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++;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t/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count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Enumerable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Range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B5CEA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2100">
                <a:solidFill>
                  <a:srgbClr val="B5CEA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100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Count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=&gt;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ru-RU" sz="2100">
                <a:solidFill>
                  <a:srgbClr val="B5CEA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== </a:t>
            </a:r>
            <a:r>
              <a:rPr lang="ru-RU" sz="2100">
                <a:solidFill>
                  <a:srgbClr val="B5CEA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&amp;&amp;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ru-RU" sz="2100">
                <a:solidFill>
                  <a:srgbClr val="B5CEA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== </a:t>
            </a:r>
            <a:r>
              <a:rPr lang="ru-RU" sz="2100">
                <a:solidFill>
                  <a:srgbClr val="B5CEA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2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49" name="Google Shape;849;g3665e2fb9b3_3_1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g3665e2fb9b3_3_117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Понятность</a:t>
            </a:r>
            <a:endParaRPr/>
          </a:p>
        </p:txBody>
      </p:sp>
      <p:pic>
        <p:nvPicPr>
          <p:cNvPr id="855" name="Google Shape;855;g3665e2fb9b3_3_1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6" name="Google Shape;856;g3665e2fb9b3_3_1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28982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857" name="Google Shape;857;g3665e2fb9b3_3_117"/>
          <p:cNvSpPr txBox="1"/>
          <p:nvPr/>
        </p:nvSpPr>
        <p:spPr>
          <a:xfrm>
            <a:off x="1203274" y="2985500"/>
            <a:ext cx="5383500" cy="7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Декларативность позволяет писать код, который читается как объясняется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58" name="Google Shape;858;g3665e2fb9b3_3_1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993843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859" name="Google Shape;859;g3665e2fb9b3_3_117"/>
          <p:cNvSpPr txBox="1"/>
          <p:nvPr/>
        </p:nvSpPr>
        <p:spPr>
          <a:xfrm>
            <a:off x="1203270" y="4081125"/>
            <a:ext cx="5315100" cy="7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Чистые функции обеспечивают видимость потока данных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863" name="Shape 8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Google Shape;864;g3665e2fb9b3_3_127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Декомпозиция</a:t>
            </a:r>
            <a:endParaRPr/>
          </a:p>
        </p:txBody>
      </p:sp>
      <p:pic>
        <p:nvPicPr>
          <p:cNvPr id="865" name="Google Shape;865;g3665e2fb9b3_3_1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6" name="Google Shape;866;g3665e2fb9b3_3_1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28982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867" name="Google Shape;867;g3665e2fb9b3_3_127"/>
          <p:cNvSpPr txBox="1"/>
          <p:nvPr/>
        </p:nvSpPr>
        <p:spPr>
          <a:xfrm>
            <a:off x="1203274" y="2985500"/>
            <a:ext cx="5383500" cy="7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Код разделяется на функции, имеющие смысл в предметной области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68" name="Google Shape;868;g3665e2fb9b3_3_1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993843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869" name="Google Shape;869;g3665e2fb9b3_3_127"/>
          <p:cNvSpPr txBox="1"/>
          <p:nvPr/>
        </p:nvSpPr>
        <p:spPr>
          <a:xfrm>
            <a:off x="1203275" y="4081125"/>
            <a:ext cx="5463600" cy="7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Декларативность позволяет отделать код предметной области от кода движка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873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g3665e2fb9b3_3_139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Декомпозиция</a:t>
            </a:r>
            <a:endParaRPr/>
          </a:p>
        </p:txBody>
      </p:sp>
      <p:pic>
        <p:nvPicPr>
          <p:cNvPr id="875" name="Google Shape;875;g3665e2fb9b3_3_1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876" name="Google Shape;876;g3665e2fb9b3_3_139"/>
          <p:cNvSpPr/>
          <p:nvPr/>
        </p:nvSpPr>
        <p:spPr>
          <a:xfrm>
            <a:off x="2049188" y="2283125"/>
            <a:ext cx="8093700" cy="1199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77" name="Google Shape;877;g3665e2fb9b3_3_139"/>
          <p:cNvSpPr/>
          <p:nvPr/>
        </p:nvSpPr>
        <p:spPr>
          <a:xfrm>
            <a:off x="2049113" y="3482225"/>
            <a:ext cx="8093700" cy="25908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78" name="Google Shape;878;g3665e2fb9b3_3_139"/>
          <p:cNvSpPr txBox="1"/>
          <p:nvPr/>
        </p:nvSpPr>
        <p:spPr>
          <a:xfrm>
            <a:off x="2808338" y="2609122"/>
            <a:ext cx="65754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Декларативная бизнес-логика</a:t>
            </a:r>
            <a:endParaRPr b="1" sz="2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79" name="Google Shape;879;g3665e2fb9b3_3_139"/>
          <p:cNvSpPr txBox="1"/>
          <p:nvPr/>
        </p:nvSpPr>
        <p:spPr>
          <a:xfrm>
            <a:off x="2214638" y="4254275"/>
            <a:ext cx="77628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Повторно используемый код</a:t>
            </a:r>
            <a:endParaRPr b="1"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(инфраструктура, предметная область)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883" name="Shape 8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Google Shape;884;g3665e2fb9b3_3_152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Обработка ошибок</a:t>
            </a:r>
            <a:endParaRPr/>
          </a:p>
        </p:txBody>
      </p:sp>
      <p:pic>
        <p:nvPicPr>
          <p:cNvPr id="885" name="Google Shape;885;g3665e2fb9b3_3_1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9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Google Shape;890;g3665e2fb9b3_3_158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Недостатки исключений</a:t>
            </a:r>
            <a:endParaRPr/>
          </a:p>
        </p:txBody>
      </p:sp>
      <p:pic>
        <p:nvPicPr>
          <p:cNvPr id="891" name="Google Shape;891;g3665e2fb9b3_3_15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2" name="Google Shape;892;g3665e2fb9b3_3_15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28982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893" name="Google Shape;893;g3665e2fb9b3_3_158"/>
          <p:cNvSpPr txBox="1"/>
          <p:nvPr/>
        </p:nvSpPr>
        <p:spPr>
          <a:xfrm>
            <a:off x="1203274" y="2985500"/>
            <a:ext cx="5383500" cy="7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Логика, основанная на исключениях – хрупкая из-за своей неявности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94" name="Google Shape;894;g3665e2fb9b3_3_15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917643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895" name="Google Shape;895;g3665e2fb9b3_3_158"/>
          <p:cNvSpPr txBox="1"/>
          <p:nvPr/>
        </p:nvSpPr>
        <p:spPr>
          <a:xfrm>
            <a:off x="1203275" y="4004925"/>
            <a:ext cx="5463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Компилятор не контролирует ошибки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96" name="Google Shape;896;g3665e2fb9b3_3_15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4497821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897" name="Google Shape;897;g3665e2fb9b3_3_158"/>
          <p:cNvSpPr txBox="1"/>
          <p:nvPr/>
        </p:nvSpPr>
        <p:spPr>
          <a:xfrm>
            <a:off x="1203275" y="4585103"/>
            <a:ext cx="5463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Программисту сложно заметить ошибку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1" name="Shape 9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Google Shape;902;g3665e2fb9b3_7_2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 sz="4500"/>
              <a:t>Альтернатива исключениям</a:t>
            </a:r>
            <a:endParaRPr sz="4500"/>
          </a:p>
        </p:txBody>
      </p:sp>
      <p:pic>
        <p:nvPicPr>
          <p:cNvPr id="903" name="Google Shape;903;g3665e2fb9b3_7_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  <p:sp>
        <p:nvSpPr>
          <p:cNvPr id="904" name="Google Shape;904;g3665e2fb9b3_7_2"/>
          <p:cNvSpPr txBox="1"/>
          <p:nvPr/>
        </p:nvSpPr>
        <p:spPr>
          <a:xfrm>
            <a:off x="587375" y="1783300"/>
            <a:ext cx="5133600" cy="445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86C691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Result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2100">
                <a:solidFill>
                  <a:srgbClr val="B8D7A3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&gt; {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IsSuccess {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B8D7A3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DCDCAA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GetValueOrThrow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Error {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t/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86C691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Result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IsSuccess {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Error { </a:t>
            </a: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8" name="Shape 9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9" name="Google Shape;909;g3665e2fb9b3_7_16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 sz="4500"/>
              <a:t>Then &amp; OnFail</a:t>
            </a:r>
            <a:endParaRPr sz="4500"/>
          </a:p>
        </p:txBody>
      </p:sp>
      <p:pic>
        <p:nvPicPr>
          <p:cNvPr id="910" name="Google Shape;910;g3665e2fb9b3_7_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  <p:sp>
        <p:nvSpPr>
          <p:cNvPr id="911" name="Google Shape;911;g3665e2fb9b3_7_16"/>
          <p:cNvSpPr txBox="1"/>
          <p:nvPr/>
        </p:nvSpPr>
        <p:spPr>
          <a:xfrm>
            <a:off x="587375" y="2423200"/>
            <a:ext cx="7522800" cy="226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86C691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ReadAllBytes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filename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.</a:t>
            </a:r>
            <a:r>
              <a:rPr lang="ru-RU" sz="2100">
                <a:solidFill>
                  <a:srgbClr val="86C691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Then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content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=&gt;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Parse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content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.</a:t>
            </a:r>
            <a:r>
              <a:rPr lang="ru-RU" sz="2100">
                <a:solidFill>
                  <a:srgbClr val="86C691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Then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doc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=&gt;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Convert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doc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.</a:t>
            </a:r>
            <a:r>
              <a:rPr lang="ru-RU" sz="2100">
                <a:solidFill>
                  <a:srgbClr val="86C691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Then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docV2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=&gt;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Save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filename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docV2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.</a:t>
            </a:r>
            <a:r>
              <a:rPr lang="ru-RU" sz="2100">
                <a:solidFill>
                  <a:srgbClr val="86C691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OnFail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=&gt;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Console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Write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CE917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$"Error 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Error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r>
              <a:rPr lang="ru-RU" sz="2100">
                <a:solidFill>
                  <a:srgbClr val="CE917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"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2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3665e2fb9b3_7_23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Зачем?</a:t>
            </a:r>
            <a:endParaRPr/>
          </a:p>
        </p:txBody>
      </p:sp>
      <p:pic>
        <p:nvPicPr>
          <p:cNvPr id="917" name="Google Shape;917;g3665e2fb9b3_7_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7501" y="583201"/>
            <a:ext cx="1377125" cy="1377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8" name="Google Shape;918;g3665e2fb9b3_7_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28982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919" name="Google Shape;919;g3665e2fb9b3_7_23"/>
          <p:cNvSpPr txBox="1"/>
          <p:nvPr/>
        </p:nvSpPr>
        <p:spPr>
          <a:xfrm>
            <a:off x="1203274" y="2985500"/>
            <a:ext cx="5383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Явность неудачного исхода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20" name="Google Shape;920;g3665e2fb9b3_7_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478267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921" name="Google Shape;921;g3665e2fb9b3_7_23"/>
          <p:cNvSpPr txBox="1"/>
          <p:nvPr/>
        </p:nvSpPr>
        <p:spPr>
          <a:xfrm>
            <a:off x="1203275" y="3565550"/>
            <a:ext cx="64077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Не нужны перевыбросы с правильным типом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22" name="Google Shape;922;g3665e2fb9b3_7_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4058445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923" name="Google Shape;923;g3665e2fb9b3_7_23"/>
          <p:cNvSpPr txBox="1"/>
          <p:nvPr/>
        </p:nvSpPr>
        <p:spPr>
          <a:xfrm>
            <a:off x="1203275" y="4145725"/>
            <a:ext cx="6185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Сложнее забыть обработать исключение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7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g3665e2fb9b3_7_34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Задача </a:t>
            </a:r>
            <a:r>
              <a:rPr lang="ru-RU">
                <a:solidFill>
                  <a:srgbClr val="EA9999"/>
                </a:solidFill>
              </a:rPr>
              <a:t>ErrorHandling</a:t>
            </a:r>
            <a:endParaRPr>
              <a:solidFill>
                <a:srgbClr val="EA9999"/>
              </a:solidFill>
            </a:endParaRPr>
          </a:p>
        </p:txBody>
      </p:sp>
      <p:sp>
        <p:nvSpPr>
          <p:cNvPr id="929" name="Google Shape;929;g3665e2fb9b3_7_34"/>
          <p:cNvSpPr txBox="1"/>
          <p:nvPr/>
        </p:nvSpPr>
        <p:spPr>
          <a:xfrm>
            <a:off x="587375" y="2425950"/>
            <a:ext cx="8726100" cy="14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Часть 1</a:t>
            </a:r>
            <a:endParaRPr b="1"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Реализовать все методы в классе 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Result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Модульные тесты в файле 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Result_Should.cs</a:t>
            </a: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должны проходить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30" name="Google Shape;930;g3665e2fb9b3_7_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05775" y="583200"/>
            <a:ext cx="1098850" cy="1098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4" name="Shape 9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Google Shape;935;g3665e2fb9b3_7_40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Задача </a:t>
            </a:r>
            <a:r>
              <a:rPr lang="ru-RU">
                <a:solidFill>
                  <a:srgbClr val="EA9999"/>
                </a:solidFill>
              </a:rPr>
              <a:t>ErrorHandling</a:t>
            </a:r>
            <a:endParaRPr>
              <a:solidFill>
                <a:srgbClr val="EA9999"/>
              </a:solidFill>
            </a:endParaRPr>
          </a:p>
        </p:txBody>
      </p:sp>
      <p:sp>
        <p:nvSpPr>
          <p:cNvPr id="936" name="Google Shape;936;g3665e2fb9b3_7_40"/>
          <p:cNvSpPr txBox="1"/>
          <p:nvPr/>
        </p:nvSpPr>
        <p:spPr>
          <a:xfrm>
            <a:off x="587375" y="2425950"/>
            <a:ext cx="8726100" cy="295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Часть 1</a:t>
            </a:r>
            <a:endParaRPr b="1"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Реализовать все методы в классе 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Result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Модульные тесты в файле 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Result_Should.cs</a:t>
            </a: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должны проходить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Часть 2</a:t>
            </a:r>
            <a:endParaRPr b="1"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Раскомментировать тесты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37" name="Google Shape;937;g3665e2fb9b3_7_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05775" y="583200"/>
            <a:ext cx="1098850" cy="1098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g3665e2fb9b3_7_47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Разбор задачи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>
                <a:solidFill>
                  <a:srgbClr val="EA9999"/>
                </a:solidFill>
              </a:rPr>
              <a:t>ErrorHandling</a:t>
            </a:r>
            <a:endParaRPr>
              <a:solidFill>
                <a:srgbClr val="EA9999"/>
              </a:solidFill>
            </a:endParaRPr>
          </a:p>
        </p:txBody>
      </p:sp>
      <p:pic>
        <p:nvPicPr>
          <p:cNvPr id="943" name="Google Shape;943;g3665e2fb9b3_7_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05775" y="583200"/>
            <a:ext cx="1098850" cy="109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4" name="Google Shape;944;g3665e2fb9b3_7_4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2898218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945" name="Google Shape;945;g3665e2fb9b3_7_47"/>
          <p:cNvSpPr txBox="1"/>
          <p:nvPr/>
        </p:nvSpPr>
        <p:spPr>
          <a:xfrm>
            <a:off x="1203274" y="2985500"/>
            <a:ext cx="5383500" cy="7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Обрабатывать ошибки можно явно, выстраивая вызовы методов в цепочки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46" name="Google Shape;946;g3665e2fb9b3_7_4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917643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947" name="Google Shape;947;g3665e2fb9b3_7_47"/>
          <p:cNvSpPr txBox="1"/>
          <p:nvPr/>
        </p:nvSpPr>
        <p:spPr>
          <a:xfrm>
            <a:off x="1203275" y="4004925"/>
            <a:ext cx="5463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Railway Oriented Programming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48" name="Google Shape;948;g3665e2fb9b3_7_4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4497821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949" name="Google Shape;949;g3665e2fb9b3_7_47"/>
          <p:cNvSpPr txBox="1"/>
          <p:nvPr/>
        </p:nvSpPr>
        <p:spPr>
          <a:xfrm>
            <a:off x="1203275" y="4585103"/>
            <a:ext cx="5463600" cy="7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Синтаксис 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LINQ 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можно использовать для создания цепочек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50" name="Google Shape;950;g3665e2fb9b3_7_4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5442531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951" name="Google Shape;951;g3665e2fb9b3_7_47"/>
          <p:cNvSpPr txBox="1"/>
          <p:nvPr/>
        </p:nvSpPr>
        <p:spPr>
          <a:xfrm>
            <a:off x="1203275" y="5529814"/>
            <a:ext cx="5463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Result 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- это 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struct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5" name="Shape 9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6" name="Google Shape;956;g3665e2fb9b3_7_61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Задача </a:t>
            </a:r>
            <a:r>
              <a:rPr lang="ru-RU">
                <a:solidFill>
                  <a:srgbClr val="EA9999"/>
                </a:solidFill>
              </a:rPr>
              <a:t>FileSenderRailway</a:t>
            </a:r>
            <a:endParaRPr>
              <a:solidFill>
                <a:srgbClr val="EA9999"/>
              </a:solidFill>
            </a:endParaRPr>
          </a:p>
        </p:txBody>
      </p:sp>
      <p:pic>
        <p:nvPicPr>
          <p:cNvPr id="957" name="Google Shape;957;g3665e2fb9b3_7_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05775" y="583200"/>
            <a:ext cx="1098850" cy="1098850"/>
          </a:xfrm>
          <a:prstGeom prst="rect">
            <a:avLst/>
          </a:prstGeom>
          <a:noFill/>
          <a:ln>
            <a:noFill/>
          </a:ln>
        </p:spPr>
      </p:pic>
      <p:sp>
        <p:nvSpPr>
          <p:cNvPr id="958" name="Google Shape;958;g3665e2fb9b3_7_61"/>
          <p:cNvSpPr txBox="1"/>
          <p:nvPr/>
        </p:nvSpPr>
        <p:spPr>
          <a:xfrm>
            <a:off x="587374" y="2486400"/>
            <a:ext cx="5383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Document           Immutable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59" name="Google Shape;959;g3665e2fb9b3_7_61"/>
          <p:cNvSpPr txBox="1"/>
          <p:nvPr/>
        </p:nvSpPr>
        <p:spPr>
          <a:xfrm>
            <a:off x="587375" y="3048625"/>
            <a:ext cx="5463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Выделить функцию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 PrepareFileToSend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60" name="Google Shape;960;g3665e2fb9b3_7_61"/>
          <p:cNvSpPr txBox="1"/>
          <p:nvPr/>
        </p:nvSpPr>
        <p:spPr>
          <a:xfrm>
            <a:off x="587375" y="3628803"/>
            <a:ext cx="5463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(*)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 Тесты на 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PrepareFileToSend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61" name="Google Shape;961;g3665e2fb9b3_7_6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110426" y="2416844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962" name="Google Shape;962;g3665e2fb9b3_7_61"/>
          <p:cNvSpPr txBox="1"/>
          <p:nvPr/>
        </p:nvSpPr>
        <p:spPr>
          <a:xfrm>
            <a:off x="587375" y="4798994"/>
            <a:ext cx="5463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Result </a:t>
            </a: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         декларативно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63" name="Google Shape;963;g3665e2fb9b3_7_61"/>
          <p:cNvSpPr txBox="1"/>
          <p:nvPr/>
        </p:nvSpPr>
        <p:spPr>
          <a:xfrm>
            <a:off x="587375" y="4208975"/>
            <a:ext cx="5997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Логику на исключениях           декларативно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64" name="Google Shape;964;g3665e2fb9b3_7_6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93760" y="4128758"/>
            <a:ext cx="464734" cy="464734"/>
          </a:xfrm>
          <a:prstGeom prst="rect">
            <a:avLst/>
          </a:prstGeom>
          <a:noFill/>
          <a:ln>
            <a:noFill/>
          </a:ln>
        </p:spPr>
      </p:pic>
      <p:pic>
        <p:nvPicPr>
          <p:cNvPr id="965" name="Google Shape;965;g3665e2fb9b3_7_6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52685" y="4720539"/>
            <a:ext cx="464734" cy="4647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9" name="Shape 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Google Shape;970;g3665e2fb9b3_7_80"/>
          <p:cNvSpPr txBox="1"/>
          <p:nvPr>
            <p:ph type="title"/>
          </p:nvPr>
        </p:nvSpPr>
        <p:spPr>
          <a:xfrm>
            <a:off x="587375" y="583200"/>
            <a:ext cx="104373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Разбор задачи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>
                <a:solidFill>
                  <a:srgbClr val="EA9999"/>
                </a:solidFill>
              </a:rPr>
              <a:t>FileSenderRailway</a:t>
            </a:r>
            <a:endParaRPr>
              <a:solidFill>
                <a:srgbClr val="EA9999"/>
              </a:solidFill>
            </a:endParaRPr>
          </a:p>
        </p:txBody>
      </p:sp>
      <p:pic>
        <p:nvPicPr>
          <p:cNvPr id="971" name="Google Shape;971;g3665e2fb9b3_7_8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05775" y="583200"/>
            <a:ext cx="1098850" cy="109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2" name="Google Shape;972;g3665e2fb9b3_7_8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384243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973" name="Google Shape;973;g3665e2fb9b3_7_80"/>
          <p:cNvSpPr txBox="1"/>
          <p:nvPr/>
        </p:nvSpPr>
        <p:spPr>
          <a:xfrm>
            <a:off x="1203275" y="3471525"/>
            <a:ext cx="5463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Пример </a:t>
            </a:r>
            <a:r>
              <a:rPr lang="ru-RU" sz="20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Railway Oriented Programming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74" name="Google Shape;974;g3665e2fb9b3_7_8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3964421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975" name="Google Shape;975;g3665e2fb9b3_7_80"/>
          <p:cNvSpPr txBox="1"/>
          <p:nvPr/>
        </p:nvSpPr>
        <p:spPr>
          <a:xfrm>
            <a:off x="1203275" y="4051703"/>
            <a:ext cx="5463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Для тестирования используются моки</a:t>
            </a:r>
            <a:endParaRPr sz="20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76" name="Google Shape;976;g3665e2fb9b3_7_8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387" y="4528131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977" name="Google Shape;977;g3665e2fb9b3_7_80"/>
          <p:cNvSpPr txBox="1"/>
          <p:nvPr/>
        </p:nvSpPr>
        <p:spPr>
          <a:xfrm>
            <a:off x="1203275" y="4615425"/>
            <a:ext cx="5979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Моки задают границу зоны чистых функций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1" name="Shape 9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Google Shape;982;g3665e2fb9b3_7_101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Railway в задаче</a:t>
            </a:r>
            <a:endParaRPr/>
          </a:p>
        </p:txBody>
      </p:sp>
      <p:pic>
        <p:nvPicPr>
          <p:cNvPr id="983" name="Google Shape;983;g3665e2fb9b3_7_10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  <p:sp>
        <p:nvSpPr>
          <p:cNvPr id="984" name="Google Shape;984;g3665e2fb9b3_7_101"/>
          <p:cNvSpPr txBox="1"/>
          <p:nvPr/>
        </p:nvSpPr>
        <p:spPr>
          <a:xfrm>
            <a:off x="587375" y="1720049"/>
            <a:ext cx="9634200" cy="48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569CD6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86C691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Result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Document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ru-RU" sz="2100">
                <a:solidFill>
                  <a:srgbClr val="DCDCAA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PrepareFileToSend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FileContent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file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,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X509Certificate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certificate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C586C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recognizer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Recognize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file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Then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doc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=&gt;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ValidateFormatIsSupported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doc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Then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doc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=&gt;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ValidateIsNotTooOld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doc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Then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doc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=&gt;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doc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WithContent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cryptographer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Sign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doc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Content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certificate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)));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2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8" name="Shape 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3665e2fb9b3_7_115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Railway в Gulp</a:t>
            </a:r>
            <a:endParaRPr/>
          </a:p>
        </p:txBody>
      </p:sp>
      <p:pic>
        <p:nvPicPr>
          <p:cNvPr id="990" name="Google Shape;990;g3665e2fb9b3_7_1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  <p:sp>
        <p:nvSpPr>
          <p:cNvPr id="991" name="Google Shape;991;g3665e2fb9b3_7_115"/>
          <p:cNvSpPr txBox="1"/>
          <p:nvPr/>
        </p:nvSpPr>
        <p:spPr>
          <a:xfrm>
            <a:off x="587375" y="2156749"/>
            <a:ext cx="9634200" cy="270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gulp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task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CE917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'sync'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ru-RU" sz="2100">
                <a:solidFill>
                  <a:srgbClr val="DCDCAA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() {  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ru-RU" sz="2100">
                <a:solidFill>
                  <a:srgbClr val="C586C0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gulp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src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CE917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'js/*.js'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pipe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concat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CE917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'script.min.js'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pipe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uglify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())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        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pipe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gulp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ru-RU" sz="2100">
                <a:solidFill>
                  <a:srgbClr val="9CDCFE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dest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ru-RU" sz="2100">
                <a:solidFill>
                  <a:srgbClr val="CE9178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'../dist/js'</a:t>
            </a: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2100">
              <a:solidFill>
                <a:srgbClr val="D4D4D4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100">
                <a:solidFill>
                  <a:srgbClr val="D4D4D4"/>
                </a:solidFill>
                <a:highlight>
                  <a:srgbClr val="1E1E1E"/>
                </a:highlight>
                <a:latin typeface="Consolas"/>
                <a:ea typeface="Consolas"/>
                <a:cs typeface="Consolas"/>
                <a:sym typeface="Consolas"/>
              </a:rPr>
              <a:t>});</a:t>
            </a:r>
            <a:endParaRPr sz="2100">
              <a:solidFill>
                <a:srgbClr val="569CD6"/>
              </a:solidFill>
              <a:highlight>
                <a:srgbClr val="1E1E1E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5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3665e2fb9b3_7_156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Построение Railway</a:t>
            </a:r>
            <a:endParaRPr/>
          </a:p>
        </p:txBody>
      </p:sp>
      <p:pic>
        <p:nvPicPr>
          <p:cNvPr id="997" name="Google Shape;997;g3665e2fb9b3_7_1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  <p:sp>
        <p:nvSpPr>
          <p:cNvPr id="998" name="Google Shape;998;g3665e2fb9b3_7_156"/>
          <p:cNvSpPr/>
          <p:nvPr/>
        </p:nvSpPr>
        <p:spPr>
          <a:xfrm>
            <a:off x="767375" y="2271100"/>
            <a:ext cx="2160000" cy="900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99" name="Google Shape;999;g3665e2fb9b3_7_156"/>
          <p:cNvSpPr txBox="1"/>
          <p:nvPr/>
        </p:nvSpPr>
        <p:spPr>
          <a:xfrm>
            <a:off x="1002575" y="2413300"/>
            <a:ext cx="1689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 b="1" sz="2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00" name="Google Shape;1000;g3665e2fb9b3_7_156"/>
          <p:cNvSpPr txBox="1"/>
          <p:nvPr/>
        </p:nvSpPr>
        <p:spPr>
          <a:xfrm>
            <a:off x="5981850" y="2237475"/>
            <a:ext cx="62331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4" name="Shape 10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Google Shape;1005;g3665e2fb9b3_7_172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Построение Railway</a:t>
            </a:r>
            <a:endParaRPr/>
          </a:p>
        </p:txBody>
      </p:sp>
      <p:pic>
        <p:nvPicPr>
          <p:cNvPr id="1006" name="Google Shape;1006;g3665e2fb9b3_7_1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7" name="Google Shape;1007;g3665e2fb9b3_7_172"/>
          <p:cNvSpPr/>
          <p:nvPr/>
        </p:nvSpPr>
        <p:spPr>
          <a:xfrm>
            <a:off x="587375" y="2091100"/>
            <a:ext cx="2520000" cy="12600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08" name="Google Shape;1008;g3665e2fb9b3_7_172"/>
          <p:cNvSpPr/>
          <p:nvPr/>
        </p:nvSpPr>
        <p:spPr>
          <a:xfrm>
            <a:off x="767375" y="2271100"/>
            <a:ext cx="2160000" cy="900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09" name="Google Shape;1009;g3665e2fb9b3_7_172"/>
          <p:cNvSpPr txBox="1"/>
          <p:nvPr/>
        </p:nvSpPr>
        <p:spPr>
          <a:xfrm>
            <a:off x="1002575" y="2413300"/>
            <a:ext cx="1689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 b="1" sz="2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10" name="Google Shape;1010;g3665e2fb9b3_7_172"/>
          <p:cNvSpPr txBox="1"/>
          <p:nvPr/>
        </p:nvSpPr>
        <p:spPr>
          <a:xfrm>
            <a:off x="5981850" y="2237475"/>
            <a:ext cx="62331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Result.Ok(</a:t>
            </a: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28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11" name="Google Shape;1011;g3665e2fb9b3_7_172"/>
          <p:cNvSpPr txBox="1"/>
          <p:nvPr/>
        </p:nvSpPr>
        <p:spPr>
          <a:xfrm>
            <a:off x="5981850" y="5255500"/>
            <a:ext cx="65754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Inject</a:t>
            </a:r>
            <a:endParaRPr b="1" sz="28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5" name="Shape 10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6" name="Google Shape;1016;g3665e2fb9b3_7_204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Построение Railway</a:t>
            </a:r>
            <a:endParaRPr/>
          </a:p>
        </p:txBody>
      </p:sp>
      <p:pic>
        <p:nvPicPr>
          <p:cNvPr id="1017" name="Google Shape;1017;g3665e2fb9b3_7_2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8" name="Google Shape;1018;g3665e2fb9b3_7_204"/>
          <p:cNvSpPr/>
          <p:nvPr/>
        </p:nvSpPr>
        <p:spPr>
          <a:xfrm>
            <a:off x="587375" y="2091100"/>
            <a:ext cx="2520000" cy="12600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19" name="Google Shape;1019;g3665e2fb9b3_7_204"/>
          <p:cNvSpPr/>
          <p:nvPr/>
        </p:nvSpPr>
        <p:spPr>
          <a:xfrm>
            <a:off x="767375" y="2271100"/>
            <a:ext cx="2160000" cy="900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20" name="Google Shape;1020;g3665e2fb9b3_7_204"/>
          <p:cNvSpPr/>
          <p:nvPr/>
        </p:nvSpPr>
        <p:spPr>
          <a:xfrm>
            <a:off x="767375" y="3531100"/>
            <a:ext cx="2160000" cy="900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21" name="Google Shape;1021;g3665e2fb9b3_7_204"/>
          <p:cNvSpPr txBox="1"/>
          <p:nvPr/>
        </p:nvSpPr>
        <p:spPr>
          <a:xfrm>
            <a:off x="1002575" y="2413300"/>
            <a:ext cx="1689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 b="1" sz="2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22" name="Google Shape;1022;g3665e2fb9b3_7_204"/>
          <p:cNvSpPr txBox="1"/>
          <p:nvPr/>
        </p:nvSpPr>
        <p:spPr>
          <a:xfrm>
            <a:off x="1002575" y="3673300"/>
            <a:ext cx="1689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x + 3</a:t>
            </a:r>
            <a:endParaRPr b="1" sz="2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23" name="Google Shape;1023;g3665e2fb9b3_7_204"/>
          <p:cNvSpPr txBox="1"/>
          <p:nvPr/>
        </p:nvSpPr>
        <p:spPr>
          <a:xfrm>
            <a:off x="5981850" y="2237475"/>
            <a:ext cx="62331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Result.Ok(</a:t>
            </a: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28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x =&gt; x + 3</a:t>
            </a:r>
            <a:endParaRPr sz="28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7" name="Shape 10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Google Shape;1028;g3665e2fb9b3_7_220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Построение Railway</a:t>
            </a:r>
            <a:endParaRPr/>
          </a:p>
        </p:txBody>
      </p:sp>
      <p:pic>
        <p:nvPicPr>
          <p:cNvPr id="1029" name="Google Shape;1029;g3665e2fb9b3_7_2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0" name="Google Shape;1030;g3665e2fb9b3_7_220"/>
          <p:cNvSpPr/>
          <p:nvPr/>
        </p:nvSpPr>
        <p:spPr>
          <a:xfrm>
            <a:off x="587375" y="2091100"/>
            <a:ext cx="2520000" cy="12600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31" name="Google Shape;1031;g3665e2fb9b3_7_220"/>
          <p:cNvSpPr/>
          <p:nvPr/>
        </p:nvSpPr>
        <p:spPr>
          <a:xfrm>
            <a:off x="767375" y="2271100"/>
            <a:ext cx="2160000" cy="900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32" name="Google Shape;1032;g3665e2fb9b3_7_220"/>
          <p:cNvSpPr/>
          <p:nvPr/>
        </p:nvSpPr>
        <p:spPr>
          <a:xfrm>
            <a:off x="587375" y="3351100"/>
            <a:ext cx="2520000" cy="12600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33" name="Google Shape;1033;g3665e2fb9b3_7_220"/>
          <p:cNvSpPr/>
          <p:nvPr/>
        </p:nvSpPr>
        <p:spPr>
          <a:xfrm>
            <a:off x="767375" y="3531100"/>
            <a:ext cx="2160000" cy="900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34" name="Google Shape;1034;g3665e2fb9b3_7_220"/>
          <p:cNvSpPr txBox="1"/>
          <p:nvPr/>
        </p:nvSpPr>
        <p:spPr>
          <a:xfrm>
            <a:off x="1002575" y="2413300"/>
            <a:ext cx="1689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 b="1" sz="2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35" name="Google Shape;1035;g3665e2fb9b3_7_220"/>
          <p:cNvSpPr txBox="1"/>
          <p:nvPr/>
        </p:nvSpPr>
        <p:spPr>
          <a:xfrm>
            <a:off x="1002575" y="3673300"/>
            <a:ext cx="1689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x + 3</a:t>
            </a:r>
            <a:endParaRPr b="1" sz="2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36" name="Google Shape;1036;g3665e2fb9b3_7_220"/>
          <p:cNvSpPr txBox="1"/>
          <p:nvPr/>
        </p:nvSpPr>
        <p:spPr>
          <a:xfrm>
            <a:off x="5981850" y="2237475"/>
            <a:ext cx="62331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Result.Ok(</a:t>
            </a: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28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	.Then(</a:t>
            </a: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x =&gt; x + 3</a:t>
            </a: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28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37" name="Google Shape;1037;g3665e2fb9b3_7_220"/>
          <p:cNvSpPr txBox="1"/>
          <p:nvPr/>
        </p:nvSpPr>
        <p:spPr>
          <a:xfrm>
            <a:off x="5981850" y="5255500"/>
            <a:ext cx="65754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Combine</a:t>
            </a:r>
            <a:endParaRPr b="1" sz="28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1" name="Shape 10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Google Shape;1042;g3665e2fb9b3_7_236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Построение Railway</a:t>
            </a:r>
            <a:endParaRPr/>
          </a:p>
        </p:txBody>
      </p:sp>
      <p:pic>
        <p:nvPicPr>
          <p:cNvPr id="1043" name="Google Shape;1043;g3665e2fb9b3_7_2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4" name="Google Shape;1044;g3665e2fb9b3_7_236"/>
          <p:cNvSpPr/>
          <p:nvPr/>
        </p:nvSpPr>
        <p:spPr>
          <a:xfrm>
            <a:off x="587375" y="2091100"/>
            <a:ext cx="2520000" cy="12600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45" name="Google Shape;1045;g3665e2fb9b3_7_236"/>
          <p:cNvSpPr/>
          <p:nvPr/>
        </p:nvSpPr>
        <p:spPr>
          <a:xfrm>
            <a:off x="767375" y="2271100"/>
            <a:ext cx="2160000" cy="900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46" name="Google Shape;1046;g3665e2fb9b3_7_236"/>
          <p:cNvSpPr/>
          <p:nvPr/>
        </p:nvSpPr>
        <p:spPr>
          <a:xfrm>
            <a:off x="587375" y="3351100"/>
            <a:ext cx="2520000" cy="12600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47" name="Google Shape;1047;g3665e2fb9b3_7_236"/>
          <p:cNvSpPr/>
          <p:nvPr/>
        </p:nvSpPr>
        <p:spPr>
          <a:xfrm>
            <a:off x="767375" y="3531100"/>
            <a:ext cx="2160000" cy="900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48" name="Google Shape;1048;g3665e2fb9b3_7_236"/>
          <p:cNvSpPr/>
          <p:nvPr/>
        </p:nvSpPr>
        <p:spPr>
          <a:xfrm>
            <a:off x="767375" y="4791100"/>
            <a:ext cx="2160000" cy="900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49" name="Google Shape;1049;g3665e2fb9b3_7_236"/>
          <p:cNvSpPr txBox="1"/>
          <p:nvPr/>
        </p:nvSpPr>
        <p:spPr>
          <a:xfrm>
            <a:off x="1002575" y="2413300"/>
            <a:ext cx="1689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 b="1" sz="2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50" name="Google Shape;1050;g3665e2fb9b3_7_236"/>
          <p:cNvSpPr txBox="1"/>
          <p:nvPr/>
        </p:nvSpPr>
        <p:spPr>
          <a:xfrm>
            <a:off x="1002575" y="3673300"/>
            <a:ext cx="1689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x + 3</a:t>
            </a:r>
            <a:endParaRPr b="1" sz="2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51" name="Google Shape;1051;g3665e2fb9b3_7_236"/>
          <p:cNvSpPr txBox="1"/>
          <p:nvPr/>
        </p:nvSpPr>
        <p:spPr>
          <a:xfrm>
            <a:off x="1002575" y="4933300"/>
            <a:ext cx="1689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x * 2</a:t>
            </a:r>
            <a:endParaRPr b="1" sz="2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52" name="Google Shape;1052;g3665e2fb9b3_7_236"/>
          <p:cNvSpPr txBox="1"/>
          <p:nvPr/>
        </p:nvSpPr>
        <p:spPr>
          <a:xfrm>
            <a:off x="5981850" y="2237475"/>
            <a:ext cx="6233100" cy="19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Result.Ok(</a:t>
            </a: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28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	.Then(</a:t>
            </a: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x =&gt; x + 3</a:t>
            </a: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28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x =&gt; x * 2</a:t>
            </a:r>
            <a:endParaRPr sz="28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6" name="Shape 10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Google Shape;1057;g3665e2fb9b3_7_252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Построение Railway</a:t>
            </a:r>
            <a:endParaRPr/>
          </a:p>
        </p:txBody>
      </p:sp>
      <p:pic>
        <p:nvPicPr>
          <p:cNvPr id="1058" name="Google Shape;1058;g3665e2fb9b3_7_2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05531" y="584205"/>
            <a:ext cx="1199100" cy="119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9" name="Google Shape;1059;g3665e2fb9b3_7_252"/>
          <p:cNvSpPr/>
          <p:nvPr/>
        </p:nvSpPr>
        <p:spPr>
          <a:xfrm>
            <a:off x="587375" y="2091100"/>
            <a:ext cx="2520000" cy="12600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60" name="Google Shape;1060;g3665e2fb9b3_7_252"/>
          <p:cNvSpPr/>
          <p:nvPr/>
        </p:nvSpPr>
        <p:spPr>
          <a:xfrm>
            <a:off x="767375" y="2271100"/>
            <a:ext cx="2160000" cy="900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61" name="Google Shape;1061;g3665e2fb9b3_7_252"/>
          <p:cNvSpPr/>
          <p:nvPr/>
        </p:nvSpPr>
        <p:spPr>
          <a:xfrm>
            <a:off x="587375" y="3351100"/>
            <a:ext cx="2520000" cy="12600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62" name="Google Shape;1062;g3665e2fb9b3_7_252"/>
          <p:cNvSpPr/>
          <p:nvPr/>
        </p:nvSpPr>
        <p:spPr>
          <a:xfrm>
            <a:off x="767375" y="3531100"/>
            <a:ext cx="2160000" cy="900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63" name="Google Shape;1063;g3665e2fb9b3_7_252"/>
          <p:cNvSpPr/>
          <p:nvPr/>
        </p:nvSpPr>
        <p:spPr>
          <a:xfrm>
            <a:off x="587375" y="4611100"/>
            <a:ext cx="2520000" cy="12600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64" name="Google Shape;1064;g3665e2fb9b3_7_252"/>
          <p:cNvSpPr/>
          <p:nvPr/>
        </p:nvSpPr>
        <p:spPr>
          <a:xfrm>
            <a:off x="767375" y="4791100"/>
            <a:ext cx="2160000" cy="900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65" name="Google Shape;1065;g3665e2fb9b3_7_252"/>
          <p:cNvSpPr txBox="1"/>
          <p:nvPr/>
        </p:nvSpPr>
        <p:spPr>
          <a:xfrm>
            <a:off x="1002575" y="2413300"/>
            <a:ext cx="1689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 b="1" sz="2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66" name="Google Shape;1066;g3665e2fb9b3_7_252"/>
          <p:cNvSpPr txBox="1"/>
          <p:nvPr/>
        </p:nvSpPr>
        <p:spPr>
          <a:xfrm>
            <a:off x="1002575" y="3673300"/>
            <a:ext cx="1689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x + 3</a:t>
            </a:r>
            <a:endParaRPr b="1" sz="2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67" name="Google Shape;1067;g3665e2fb9b3_7_252"/>
          <p:cNvSpPr txBox="1"/>
          <p:nvPr/>
        </p:nvSpPr>
        <p:spPr>
          <a:xfrm>
            <a:off x="1002575" y="4933300"/>
            <a:ext cx="1689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x * 2</a:t>
            </a:r>
            <a:endParaRPr b="1" sz="2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68" name="Google Shape;1068;g3665e2fb9b3_7_252"/>
          <p:cNvSpPr txBox="1"/>
          <p:nvPr/>
        </p:nvSpPr>
        <p:spPr>
          <a:xfrm>
            <a:off x="5981850" y="2237475"/>
            <a:ext cx="62331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Result.Ok(</a:t>
            </a: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28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	.Then(</a:t>
            </a: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x =&gt; x + 3</a:t>
            </a: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28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	.Then(</a:t>
            </a:r>
            <a:r>
              <a:rPr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x =&gt; x * 2</a:t>
            </a:r>
            <a:r>
              <a:rPr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28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69" name="Google Shape;1069;g3665e2fb9b3_7_252"/>
          <p:cNvSpPr txBox="1"/>
          <p:nvPr/>
        </p:nvSpPr>
        <p:spPr>
          <a:xfrm>
            <a:off x="5981850" y="5255500"/>
            <a:ext cx="65754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Combine</a:t>
            </a:r>
            <a:endParaRPr b="1" sz="28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3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Google Shape;1074;g3665e2fb9b3_7_291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Использованные операции</a:t>
            </a:r>
            <a:endParaRPr/>
          </a:p>
        </p:txBody>
      </p:sp>
      <p:sp>
        <p:nvSpPr>
          <p:cNvPr id="1075" name="Google Shape;1075;g3665e2fb9b3_7_291"/>
          <p:cNvSpPr txBox="1"/>
          <p:nvPr/>
        </p:nvSpPr>
        <p:spPr>
          <a:xfrm>
            <a:off x="587375" y="2488625"/>
            <a:ext cx="19584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Inject</a:t>
            </a:r>
            <a:endParaRPr b="1" sz="28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Combine</a:t>
            </a:r>
            <a:endParaRPr b="1" sz="28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76" name="Google Shape;1076;g3665e2fb9b3_7_291"/>
          <p:cNvSpPr txBox="1"/>
          <p:nvPr/>
        </p:nvSpPr>
        <p:spPr>
          <a:xfrm>
            <a:off x="2944700" y="2488625"/>
            <a:ext cx="13770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x</a:t>
            </a:r>
            <a:endParaRPr b="1"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</a:t>
            </a:r>
            <a:r>
              <a:rPr b="1"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</a:t>
            </a: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x) y</a:t>
            </a:r>
            <a:endParaRPr b="1"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77" name="Google Shape;1077;g3665e2fb9b3_7_2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49712" y="2567143"/>
            <a:ext cx="464734" cy="46473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8" name="Google Shape;1078;g3665e2fb9b3_7_2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49712" y="3427331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1079" name="Google Shape;1079;g3665e2fb9b3_7_291"/>
          <p:cNvSpPr txBox="1"/>
          <p:nvPr/>
        </p:nvSpPr>
        <p:spPr>
          <a:xfrm>
            <a:off x="5071050" y="2488625"/>
            <a:ext cx="13770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</a:t>
            </a:r>
            <a:r>
              <a:rPr b="1"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</a:t>
            </a: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x)</a:t>
            </a:r>
            <a:endParaRPr b="1"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</a:t>
            </a:r>
            <a:r>
              <a:rPr b="1"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</a:t>
            </a: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y)</a:t>
            </a:r>
            <a:endParaRPr b="1"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80" name="Google Shape;1080;g3665e2fb9b3_7_291"/>
          <p:cNvSpPr txBox="1"/>
          <p:nvPr/>
        </p:nvSpPr>
        <p:spPr>
          <a:xfrm rot="-302897">
            <a:off x="4636192" y="3989959"/>
            <a:ext cx="2246715" cy="49242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0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R - это монада</a:t>
            </a:r>
            <a:endParaRPr b="1" sz="20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4" name="Shape 1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Google Shape;1085;g3665e2fb9b3_7_268"/>
          <p:cNvSpPr txBox="1"/>
          <p:nvPr>
            <p:ph type="title"/>
          </p:nvPr>
        </p:nvSpPr>
        <p:spPr>
          <a:xfrm>
            <a:off x="587375" y="584200"/>
            <a:ext cx="10017900" cy="11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/>
              <a:t>Использованные операции</a:t>
            </a:r>
            <a:endParaRPr/>
          </a:p>
        </p:txBody>
      </p:sp>
      <p:sp>
        <p:nvSpPr>
          <p:cNvPr id="1086" name="Google Shape;1086;g3665e2fb9b3_7_268"/>
          <p:cNvSpPr txBox="1"/>
          <p:nvPr/>
        </p:nvSpPr>
        <p:spPr>
          <a:xfrm>
            <a:off x="587375" y="2488625"/>
            <a:ext cx="19584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Inject</a:t>
            </a:r>
            <a:endParaRPr b="1" sz="28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Combine</a:t>
            </a:r>
            <a:endParaRPr b="1" sz="28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87" name="Google Shape;1087;g3665e2fb9b3_7_268"/>
          <p:cNvSpPr txBox="1"/>
          <p:nvPr/>
        </p:nvSpPr>
        <p:spPr>
          <a:xfrm>
            <a:off x="2944700" y="2488625"/>
            <a:ext cx="13770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x</a:t>
            </a:r>
            <a:endParaRPr b="1"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</a:t>
            </a:r>
            <a:r>
              <a:rPr b="1"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</a:t>
            </a: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x) y</a:t>
            </a:r>
            <a:endParaRPr b="1"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88" name="Google Shape;1088;g3665e2fb9b3_7_2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49712" y="2567143"/>
            <a:ext cx="464734" cy="46473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9" name="Google Shape;1089;g3665e2fb9b3_7_2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49712" y="3427331"/>
            <a:ext cx="464734" cy="464734"/>
          </a:xfrm>
          <a:prstGeom prst="rect">
            <a:avLst/>
          </a:prstGeom>
          <a:noFill/>
          <a:ln>
            <a:noFill/>
          </a:ln>
        </p:spPr>
      </p:pic>
      <p:sp>
        <p:nvSpPr>
          <p:cNvPr id="1090" name="Google Shape;1090;g3665e2fb9b3_7_268"/>
          <p:cNvSpPr txBox="1"/>
          <p:nvPr/>
        </p:nvSpPr>
        <p:spPr>
          <a:xfrm>
            <a:off x="5071050" y="2488625"/>
            <a:ext cx="13770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</a:t>
            </a:r>
            <a:r>
              <a:rPr b="1"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</a:t>
            </a: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x)</a:t>
            </a:r>
            <a:endParaRPr b="1"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</a:t>
            </a:r>
            <a:r>
              <a:rPr b="1" lang="ru-RU" sz="28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</a:t>
            </a:r>
            <a:r>
              <a:rPr b="1" lang="ru-RU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y)</a:t>
            </a:r>
            <a:endParaRPr b="1" sz="2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91" name="Google Shape;1091;g3665e2fb9b3_7_268"/>
          <p:cNvSpPr txBox="1"/>
          <p:nvPr/>
        </p:nvSpPr>
        <p:spPr>
          <a:xfrm>
            <a:off x="7025917" y="1817547"/>
            <a:ext cx="5194200" cy="458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Монада </a:t>
            </a:r>
            <a:r>
              <a:rPr lang="ru-RU" sz="26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Result</a:t>
            </a:r>
            <a:endParaRPr sz="26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Inject</a:t>
            </a:r>
            <a:r>
              <a:rPr lang="ru-RU" sz="2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: </a:t>
            </a:r>
            <a:r>
              <a:rPr lang="ru-RU" sz="26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Result.Ok</a:t>
            </a:r>
            <a:r>
              <a:rPr lang="ru-RU" sz="2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,</a:t>
            </a:r>
            <a:r>
              <a:rPr lang="ru-RU" sz="26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 Result.Fail</a:t>
            </a:r>
            <a:endParaRPr sz="26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Combine</a:t>
            </a:r>
            <a:r>
              <a:rPr lang="ru-RU" sz="2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: </a:t>
            </a:r>
            <a:r>
              <a:rPr lang="ru-RU" sz="26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Then</a:t>
            </a:r>
            <a:endParaRPr sz="26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Монада </a:t>
            </a:r>
            <a:r>
              <a:rPr lang="ru-RU" sz="26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Task</a:t>
            </a:r>
            <a:endParaRPr sz="26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ru-RU" sz="26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Inject</a:t>
            </a:r>
            <a:r>
              <a:rPr lang="ru-RU" sz="2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: </a:t>
            </a:r>
            <a:r>
              <a:rPr lang="ru-RU" sz="26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Task.FromResult</a:t>
            </a:r>
            <a:endParaRPr sz="26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Combine</a:t>
            </a:r>
            <a:r>
              <a:rPr lang="ru-RU" sz="2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: </a:t>
            </a:r>
            <a:r>
              <a:rPr lang="ru-RU" sz="26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ContinueWIth</a:t>
            </a:r>
            <a:endParaRPr sz="26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6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Монада </a:t>
            </a:r>
            <a:r>
              <a:rPr lang="ru-RU" sz="26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IEnumerable</a:t>
            </a:r>
            <a:endParaRPr sz="26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Inject</a:t>
            </a:r>
            <a:r>
              <a:rPr lang="ru-RU" sz="2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: </a:t>
            </a:r>
            <a:r>
              <a:rPr lang="ru-RU" sz="26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Enumerable.Range</a:t>
            </a:r>
            <a:endParaRPr sz="2600">
              <a:solidFill>
                <a:srgbClr val="A4C2F4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Combine</a:t>
            </a:r>
            <a:r>
              <a:rPr lang="ru-RU" sz="2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: </a:t>
            </a:r>
            <a:r>
              <a:rPr lang="ru-RU" sz="2600">
                <a:solidFill>
                  <a:srgbClr val="A4C2F4"/>
                </a:solidFill>
                <a:latin typeface="Montserrat"/>
                <a:ea typeface="Montserrat"/>
                <a:cs typeface="Montserrat"/>
                <a:sym typeface="Montserrat"/>
              </a:rPr>
              <a:t>SelectMany</a:t>
            </a:r>
            <a:endParaRPr sz="2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92" name="Google Shape;1092;g3665e2fb9b3_7_268"/>
          <p:cNvSpPr txBox="1"/>
          <p:nvPr/>
        </p:nvSpPr>
        <p:spPr>
          <a:xfrm rot="-302897">
            <a:off x="4636192" y="3989959"/>
            <a:ext cx="2246715" cy="49242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000">
                <a:solidFill>
                  <a:srgbClr val="EA9999"/>
                </a:solidFill>
                <a:latin typeface="Montserrat"/>
                <a:ea typeface="Montserrat"/>
                <a:cs typeface="Montserrat"/>
                <a:sym typeface="Montserrat"/>
              </a:rPr>
              <a:t>R - это монада</a:t>
            </a:r>
            <a:endParaRPr b="1" sz="2000">
              <a:solidFill>
                <a:srgbClr val="EA999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7" name="Shape 10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Google Shape;1098;g3120ba7d59a_0_850"/>
          <p:cNvSpPr txBox="1"/>
          <p:nvPr>
            <p:ph type="title"/>
          </p:nvPr>
        </p:nvSpPr>
        <p:spPr>
          <a:xfrm>
            <a:off x="594750" y="584200"/>
            <a:ext cx="5400000" cy="157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ru-RU"/>
              <a:t>Обратная связь</a:t>
            </a:r>
            <a:endParaRPr/>
          </a:p>
        </p:txBody>
      </p:sp>
      <p:sp>
        <p:nvSpPr>
          <p:cNvPr id="1099" name="Google Shape;1099;g3120ba7d59a_0_850"/>
          <p:cNvSpPr txBox="1"/>
          <p:nvPr>
            <p:ph idx="3" type="body"/>
          </p:nvPr>
        </p:nvSpPr>
        <p:spPr>
          <a:xfrm>
            <a:off x="8183217" y="5961666"/>
            <a:ext cx="34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/>
              <a:t>kontur.ru</a:t>
            </a:r>
            <a:endParaRPr/>
          </a:p>
        </p:txBody>
      </p:sp>
      <p:pic>
        <p:nvPicPr>
          <p:cNvPr id="1100" name="Google Shape;1100;g3120ba7d59a_0_850" title="dfbf1e9697436a8bbee9c716d39a4669.png"/>
          <p:cNvPicPr preferRelativeResize="0"/>
          <p:nvPr>
            <p:ph idx="4" type="pic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45214" y="584201"/>
            <a:ext cx="3959400" cy="3959400"/>
          </a:xfrm>
          <a:prstGeom prst="roundRect">
            <a:avLst>
              <a:gd fmla="val 16667" name="adj"/>
            </a:avLst>
          </a:prstGeom>
          <a:noFill/>
        </p:spPr>
      </p:pic>
      <p:sp>
        <p:nvSpPr>
          <p:cNvPr id="1101" name="Google Shape;1101;g3120ba7d59a_0_850"/>
          <p:cNvSpPr txBox="1"/>
          <p:nvPr/>
        </p:nvSpPr>
        <p:spPr>
          <a:xfrm>
            <a:off x="594748" y="3356458"/>
            <a:ext cx="5400000" cy="3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Редько Евгений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02" name="Google Shape;1102;g3120ba7d59a_0_850"/>
          <p:cNvSpPr txBox="1"/>
          <p:nvPr/>
        </p:nvSpPr>
        <p:spPr>
          <a:xfrm>
            <a:off x="594748" y="3760372"/>
            <a:ext cx="5400000" cy="6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Старший инженер-программист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03" name="Google Shape;1103;g3120ba7d59a_0_850"/>
          <p:cNvSpPr txBox="1"/>
          <p:nvPr/>
        </p:nvSpPr>
        <p:spPr>
          <a:xfrm>
            <a:off x="594748" y="4423258"/>
            <a:ext cx="5400000" cy="3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Волков Кирилл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04" name="Google Shape;1104;g3120ba7d59a_0_850"/>
          <p:cNvSpPr txBox="1"/>
          <p:nvPr/>
        </p:nvSpPr>
        <p:spPr>
          <a:xfrm>
            <a:off x="594748" y="4827172"/>
            <a:ext cx="5400000" cy="6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FEFFFE"/>
                </a:solidFill>
                <a:latin typeface="Montserrat"/>
                <a:ea typeface="Montserrat"/>
                <a:cs typeface="Montserrat"/>
                <a:sym typeface="Montserrat"/>
              </a:rPr>
              <a:t>Инженер-программист</a:t>
            </a:r>
            <a:endParaRPr sz="2000">
              <a:solidFill>
                <a:srgbClr val="FEFF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heme Montserrat">
  <a:themeElements>
    <a:clrScheme name="Шаблон 2023">
      <a:dk1>
        <a:srgbClr val="FEFFFE"/>
      </a:dk1>
      <a:lt1>
        <a:srgbClr val="000000"/>
      </a:lt1>
      <a:dk2>
        <a:srgbClr val="F1F1F1"/>
      </a:dk2>
      <a:lt2>
        <a:srgbClr val="000000"/>
      </a:lt2>
      <a:accent1>
        <a:srgbClr val="00C5A7"/>
      </a:accent1>
      <a:accent2>
        <a:srgbClr val="FF8126"/>
      </a:accent2>
      <a:accent3>
        <a:srgbClr val="26AD50"/>
      </a:accent3>
      <a:accent4>
        <a:srgbClr val="FE5948"/>
      </a:accent4>
      <a:accent5>
        <a:srgbClr val="2191FE"/>
      </a:accent5>
      <a:accent6>
        <a:srgbClr val="B850CF"/>
      </a:accent6>
      <a:hlink>
        <a:srgbClr val="0671F6"/>
      </a:hlink>
      <a:folHlink>
        <a:srgbClr val="0570F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2021-03-05T04:34:43Z</dcterms:created>
  <dc:creator>Ольга Преображенская</dc:creator>
</cp:coreProperties>
</file>